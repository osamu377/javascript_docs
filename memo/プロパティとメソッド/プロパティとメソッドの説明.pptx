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9" r:id="rId4"/>
    <p:sldId id="257" r:id="rId5"/>
    <p:sldId id="258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AF82D-EEFA-463F-A03B-7BDA009393E1}" v="7" dt="2026-05-20T00:02:28.1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ECDAF82D-EEFA-463F-A03B-7BDA009393E1}"/>
    <pc:docChg chg="custSel addSld modSld sldOrd">
      <pc:chgData name="越智 統" userId="2de33d77-a65a-42d1-92e2-b40da65bb07e" providerId="ADAL" clId="{ECDAF82D-EEFA-463F-A03B-7BDA009393E1}" dt="2026-05-20T00:02:33.777" v="372"/>
      <pc:docMkLst>
        <pc:docMk/>
      </pc:docMkLst>
      <pc:sldChg chg="add">
        <pc:chgData name="越智 統" userId="2de33d77-a65a-42d1-92e2-b40da65bb07e" providerId="ADAL" clId="{ECDAF82D-EEFA-463F-A03B-7BDA009393E1}" dt="2026-05-19T23:59:57.569" v="348"/>
        <pc:sldMkLst>
          <pc:docMk/>
          <pc:sldMk cId="360896339" sldId="257"/>
        </pc:sldMkLst>
      </pc:sldChg>
      <pc:sldChg chg="addSp modSp mod">
        <pc:chgData name="越智 統" userId="2de33d77-a65a-42d1-92e2-b40da65bb07e" providerId="ADAL" clId="{ECDAF82D-EEFA-463F-A03B-7BDA009393E1}" dt="2026-05-19T15:23:27.394" v="291" actId="20577"/>
        <pc:sldMkLst>
          <pc:docMk/>
          <pc:sldMk cId="3103575519" sldId="258"/>
        </pc:sldMkLst>
        <pc:spChg chg="add mod">
          <ac:chgData name="越智 統" userId="2de33d77-a65a-42d1-92e2-b40da65bb07e" providerId="ADAL" clId="{ECDAF82D-EEFA-463F-A03B-7BDA009393E1}" dt="2026-05-19T15:23:27.394" v="291" actId="20577"/>
          <ac:spMkLst>
            <pc:docMk/>
            <pc:sldMk cId="3103575519" sldId="258"/>
            <ac:spMk id="4" creationId="{6E26B592-2BB2-164D-CEE0-4B3DE6940966}"/>
          </ac:spMkLst>
        </pc:spChg>
      </pc:sldChg>
      <pc:sldChg chg="add ord">
        <pc:chgData name="越智 統" userId="2de33d77-a65a-42d1-92e2-b40da65bb07e" providerId="ADAL" clId="{ECDAF82D-EEFA-463F-A03B-7BDA009393E1}" dt="2026-05-20T00:02:33.777" v="372"/>
        <pc:sldMkLst>
          <pc:docMk/>
          <pc:sldMk cId="473636867" sldId="259"/>
        </pc:sldMkLst>
      </pc:sldChg>
      <pc:sldChg chg="addSp modSp mod">
        <pc:chgData name="越智 統" userId="2de33d77-a65a-42d1-92e2-b40da65bb07e" providerId="ADAL" clId="{ECDAF82D-EEFA-463F-A03B-7BDA009393E1}" dt="2026-05-19T15:24:13.317" v="331" actId="113"/>
        <pc:sldMkLst>
          <pc:docMk/>
          <pc:sldMk cId="1130678363" sldId="261"/>
        </pc:sldMkLst>
        <pc:spChg chg="add mod">
          <ac:chgData name="越智 統" userId="2de33d77-a65a-42d1-92e2-b40da65bb07e" providerId="ADAL" clId="{ECDAF82D-EEFA-463F-A03B-7BDA009393E1}" dt="2026-05-19T15:24:13.317" v="331" actId="113"/>
          <ac:spMkLst>
            <pc:docMk/>
            <pc:sldMk cId="1130678363" sldId="261"/>
            <ac:spMk id="5" creationId="{6399F086-0920-CF29-3FAA-14419D0E6637}"/>
          </ac:spMkLst>
        </pc:spChg>
      </pc:sldChg>
      <pc:sldChg chg="addSp modSp mod">
        <pc:chgData name="越智 統" userId="2de33d77-a65a-42d1-92e2-b40da65bb07e" providerId="ADAL" clId="{ECDAF82D-EEFA-463F-A03B-7BDA009393E1}" dt="2026-05-19T15:24:36.993" v="347" actId="20577"/>
        <pc:sldMkLst>
          <pc:docMk/>
          <pc:sldMk cId="337437727" sldId="262"/>
        </pc:sldMkLst>
        <pc:spChg chg="add mod">
          <ac:chgData name="越智 統" userId="2de33d77-a65a-42d1-92e2-b40da65bb07e" providerId="ADAL" clId="{ECDAF82D-EEFA-463F-A03B-7BDA009393E1}" dt="2026-05-19T15:24:36.993" v="347" actId="20577"/>
          <ac:spMkLst>
            <pc:docMk/>
            <pc:sldMk cId="337437727" sldId="262"/>
            <ac:spMk id="2" creationId="{C82932B8-6BE4-8004-E142-2B65B9E72EB8}"/>
          </ac:spMkLst>
        </pc:spChg>
      </pc:sldChg>
      <pc:sldChg chg="addSp delSp modSp add mod ord">
        <pc:chgData name="越智 統" userId="2de33d77-a65a-42d1-92e2-b40da65bb07e" providerId="ADAL" clId="{ECDAF82D-EEFA-463F-A03B-7BDA009393E1}" dt="2026-05-19T15:21:54.460" v="190" actId="1076"/>
        <pc:sldMkLst>
          <pc:docMk/>
          <pc:sldMk cId="4178703371" sldId="268"/>
        </pc:sldMkLst>
        <pc:spChg chg="mod">
          <ac:chgData name="越智 統" userId="2de33d77-a65a-42d1-92e2-b40da65bb07e" providerId="ADAL" clId="{ECDAF82D-EEFA-463F-A03B-7BDA009393E1}" dt="2026-05-19T15:17:29.761" v="11" actId="20577"/>
          <ac:spMkLst>
            <pc:docMk/>
            <pc:sldMk cId="4178703371" sldId="268"/>
            <ac:spMk id="3" creationId="{A530B350-C833-2754-570A-47C344FC69A4}"/>
          </ac:spMkLst>
        </pc:spChg>
        <pc:spChg chg="mod">
          <ac:chgData name="越智 統" userId="2de33d77-a65a-42d1-92e2-b40da65bb07e" providerId="ADAL" clId="{ECDAF82D-EEFA-463F-A03B-7BDA009393E1}" dt="2026-05-19T15:21:54.460" v="190" actId="1076"/>
          <ac:spMkLst>
            <pc:docMk/>
            <pc:sldMk cId="4178703371" sldId="268"/>
            <ac:spMk id="4" creationId="{DF74B0FA-CBA3-00D2-DE43-A3EDF14631D0}"/>
          </ac:spMkLst>
        </pc:spChg>
        <pc:picChg chg="add mod">
          <ac:chgData name="越智 統" userId="2de33d77-a65a-42d1-92e2-b40da65bb07e" providerId="ADAL" clId="{ECDAF82D-EEFA-463F-A03B-7BDA009393E1}" dt="2026-05-19T15:18:56.499" v="88" actId="1076"/>
          <ac:picMkLst>
            <pc:docMk/>
            <pc:sldMk cId="4178703371" sldId="268"/>
            <ac:picMk id="5" creationId="{287B249F-1DC8-1429-4E6C-E01E41B1DC8A}"/>
          </ac:picMkLst>
        </pc:picChg>
        <pc:picChg chg="del">
          <ac:chgData name="越智 統" userId="2de33d77-a65a-42d1-92e2-b40da65bb07e" providerId="ADAL" clId="{ECDAF82D-EEFA-463F-A03B-7BDA009393E1}" dt="2026-05-19T15:18:26.166" v="82" actId="478"/>
          <ac:picMkLst>
            <pc:docMk/>
            <pc:sldMk cId="4178703371" sldId="268"/>
            <ac:picMk id="6" creationId="{56EA9439-819C-1154-EB06-F03F7D74411A}"/>
          </ac:picMkLst>
        </pc:picChg>
        <pc:picChg chg="add del mod">
          <ac:chgData name="越智 統" userId="2de33d77-a65a-42d1-92e2-b40da65bb07e" providerId="ADAL" clId="{ECDAF82D-EEFA-463F-A03B-7BDA009393E1}" dt="2026-05-19T15:19:31.660" v="91" actId="478"/>
          <ac:picMkLst>
            <pc:docMk/>
            <pc:sldMk cId="4178703371" sldId="268"/>
            <ac:picMk id="8" creationId="{132ACF1D-6052-6D05-A056-D1275D6F3308}"/>
          </ac:picMkLst>
        </pc:picChg>
        <pc:picChg chg="del">
          <ac:chgData name="越智 統" userId="2de33d77-a65a-42d1-92e2-b40da65bb07e" providerId="ADAL" clId="{ECDAF82D-EEFA-463F-A03B-7BDA009393E1}" dt="2026-05-19T15:18:28.065" v="83" actId="478"/>
          <ac:picMkLst>
            <pc:docMk/>
            <pc:sldMk cId="4178703371" sldId="268"/>
            <ac:picMk id="10" creationId="{2BE55662-ED2B-953F-B05B-BE0F9F0D3D5E}"/>
          </ac:picMkLst>
        </pc:picChg>
        <pc:picChg chg="add mod">
          <ac:chgData name="越智 統" userId="2de33d77-a65a-42d1-92e2-b40da65bb07e" providerId="ADAL" clId="{ECDAF82D-EEFA-463F-A03B-7BDA009393E1}" dt="2026-05-19T15:19:43.748" v="93" actId="1076"/>
          <ac:picMkLst>
            <pc:docMk/>
            <pc:sldMk cId="4178703371" sldId="268"/>
            <ac:picMk id="13" creationId="{626713BD-49DB-F8B7-DF33-BE3624AA3BCF}"/>
          </ac:picMkLst>
        </pc:picChg>
      </pc:sldChg>
      <pc:sldChg chg="addSp modSp new mod">
        <pc:chgData name="越智 統" userId="2de33d77-a65a-42d1-92e2-b40da65bb07e" providerId="ADAL" clId="{ECDAF82D-EEFA-463F-A03B-7BDA009393E1}" dt="2026-05-20T00:02:28.198" v="370"/>
        <pc:sldMkLst>
          <pc:docMk/>
          <pc:sldMk cId="1791391969" sldId="269"/>
        </pc:sldMkLst>
        <pc:spChg chg="add mod">
          <ac:chgData name="越智 統" userId="2de33d77-a65a-42d1-92e2-b40da65bb07e" providerId="ADAL" clId="{ECDAF82D-EEFA-463F-A03B-7BDA009393E1}" dt="2026-05-20T00:02:17.534" v="369" actId="20577"/>
          <ac:spMkLst>
            <pc:docMk/>
            <pc:sldMk cId="1791391969" sldId="269"/>
            <ac:spMk id="2" creationId="{F26D70B1-2A4B-E49C-B903-4F89ACB6DE21}"/>
          </ac:spMkLst>
        </pc:spChg>
        <pc:picChg chg="add mod">
          <ac:chgData name="越智 統" userId="2de33d77-a65a-42d1-92e2-b40da65bb07e" providerId="ADAL" clId="{ECDAF82D-EEFA-463F-A03B-7BDA009393E1}" dt="2026-05-20T00:02:28.198" v="370"/>
          <ac:picMkLst>
            <pc:docMk/>
            <pc:sldMk cId="1791391969" sldId="269"/>
            <ac:picMk id="3" creationId="{13F1885D-CBEC-87C4-1C69-BDB05F9E144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B2879-17AD-49BC-A031-317F2A27153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DBFF5-32CE-4EB4-9BAF-E16B4EDFE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04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DBFF5-32CE-4EB4-9BAF-E16B4EDFE0A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2863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DBFF5-32CE-4EB4-9BAF-E16B4EDFE0A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541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B9C2-E309-00DE-EBCE-7A657D42C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04917A9-0CAE-23E0-53D4-73B2E3EDE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C042036-E522-C095-A625-E651B0E41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12B0EB-F038-B373-60B8-65CA6C36F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50B6B-1A29-4028-9D9F-02BB49CE410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379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A798A1-C202-B98E-C9B5-3F65325F5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3C0B69-913E-DDD3-479A-5C8AB4556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636AD8-AD80-D26E-BDEA-A123AD12B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7F4137-8E3A-DB2B-5588-361AEF0C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F980E8-C8D7-8CF6-149A-DA0DDEAE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523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A040A3-DC75-9B8C-F821-C788ECD7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371E2A-0238-D100-7627-EEB776784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9F5C41-338B-182B-2A82-385832A0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7D92E6-60B5-47F0-0FA6-D826BB440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760734-8323-8680-EEC4-73A30985C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947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F8385D-AE65-4A34-71A0-6D9364CC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E8F035-B1CF-A18E-F558-24B84AEF9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953153-7E19-8E90-35A2-4396B4F47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1D9FB1-684E-CE8B-4AA7-0919DBC6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C0290F-E93A-0FD2-6154-BCDB78DD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714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7E8235-21E4-B9A7-D0C8-F5F968A6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6CB0EA-7572-D9DD-C30A-64C04B3A9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07855C-77D0-4AB9-2902-C0FE6F930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E9B105-E5A3-57E2-9E80-1B51FE502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B982C7-E807-D603-9780-1EE7C0546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C181E2-B910-7E3E-0CBB-81C5BBBD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014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529B0D-AE00-C445-1B68-29F48C97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3E8985-45A0-4F2F-0936-58ED196DE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07E532F-21B8-A4B1-D024-F44B83C39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F7530C7-5389-4356-8FCE-D13345D5E1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7988DCC-D5D6-F47F-5136-67FF511968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CA87285-2DCE-A8A9-276E-D0ABE99A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76281E-57A0-2AEF-B626-A48DEF01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379AE1-B038-ECFE-E2A2-FB291897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602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BB7746-CB9C-193E-B559-CBBB24F9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926D36B-F2AF-D37A-BFEC-D13D9EB8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193959-E065-63F3-1C5B-C1BC0B8F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FA2770-FC45-A992-9468-C92FE1AE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81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502E348-3C89-7E5D-3F5F-90754AA8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A199C5-AABB-7026-6744-0ACB2B2F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649CC2-262E-93B4-E9BF-6CA02C03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768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EA483-8FD7-F7BE-81EB-D3F953D8B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9C4C53-FF2D-42C5-8F38-CBB39F534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AAC56E-D8AC-0B22-1547-7331B6D6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3DA9F8-9759-97D0-5C7A-7C576A2E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A9FF76-DDF0-8284-012C-21D935B35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E985CE-0E98-777B-A8AB-9F89A6D2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4702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90DB27-CA4D-E746-0F73-D7613E4D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6645E42-A50F-199C-DCBF-C192598E6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D08782-C930-0092-E2C1-8B7E69AB1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7EC2DC-29E8-B60A-6CD9-A2CF5B4D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52FCEF-ADEC-6B04-2A51-11A30558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632753-FD6D-3CFF-C12E-D6F42F7C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0681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F67004-DBF1-14ED-CFF4-A7ADB3FC7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FE4F6A-3324-30D3-DB96-A6F76AF6F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87729B-428D-082B-3A87-8D33CB168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BA2E3F-B0EC-4812-8ABC-996A175D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FB5B33-809A-C336-0ED5-EAC6D18B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8094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7E06D55-A09F-8991-B8D3-5567FB121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020E82D-376F-B1D1-2919-07AF47B44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004A1D-DEF6-2D6B-E75D-70B748CBE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546145-F5B4-17B7-B702-0527327B5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A8AE19-56F2-5DF2-CA33-4C32E0C0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684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33E20AF-C07A-48F3-94CC-BFD193ED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9DB0AE-3929-0FE6-AFC3-54312EDE2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2080A1-CB07-40C9-8013-966DB1090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0680B-6FA7-4943-A208-41F528ABFF4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5409CC-D1F1-64A5-4EDA-00FB0A2F6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302A1D-E0DB-AC39-B96E-0EB496280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23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FCB989-E8C1-12A0-DB93-834EDBA317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メソッドとプロパティ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6A236F9-BCE3-163C-D73E-21F8C9EC6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オブジェクトの中身</a:t>
            </a:r>
          </a:p>
        </p:txBody>
      </p:sp>
    </p:spTree>
    <p:extLst>
      <p:ext uri="{BB962C8B-B14F-4D97-AF65-F5344CB8AC3E}">
        <p14:creationId xmlns:p14="http://schemas.microsoft.com/office/powerpoint/2010/main" val="3556359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26D70B1-2A4B-E49C-B903-4F89ACB6DE21}"/>
              </a:ext>
            </a:extLst>
          </p:cNvPr>
          <p:cNvSpPr txBox="1"/>
          <p:nvPr/>
        </p:nvSpPr>
        <p:spPr>
          <a:xfrm>
            <a:off x="532712" y="391885"/>
            <a:ext cx="5522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b="1" dirty="0"/>
              <a:t>復習</a:t>
            </a:r>
            <a:r>
              <a:rPr kumimoji="1" lang="en-US" altLang="ja-JP" sz="3600" b="1" dirty="0"/>
              <a:t>. </a:t>
            </a:r>
            <a:r>
              <a:rPr kumimoji="1" lang="ja-JP" altLang="en-US" sz="3600" b="1" dirty="0"/>
              <a:t>オブジェクトとは？</a:t>
            </a:r>
          </a:p>
        </p:txBody>
      </p:sp>
      <p:pic>
        <p:nvPicPr>
          <p:cNvPr id="3" name="図 2" descr="ゲームのキャラクター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3F1885D-CBEC-87C4-1C69-BDB05F9E1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75" y="1228725"/>
            <a:ext cx="2381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91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ED8B6-5A8C-B47F-4B82-845E4D8C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吹き出し: 円形 3">
            <a:extLst>
              <a:ext uri="{FF2B5EF4-FFF2-40B4-BE49-F238E27FC236}">
                <a16:creationId xmlns:a16="http://schemas.microsoft.com/office/drawing/2014/main" id="{1CB185F5-1410-683C-385B-278E90D55837}"/>
              </a:ext>
            </a:extLst>
          </p:cNvPr>
          <p:cNvSpPr/>
          <p:nvPr/>
        </p:nvSpPr>
        <p:spPr>
          <a:xfrm>
            <a:off x="1657350" y="1420586"/>
            <a:ext cx="2911929" cy="1575707"/>
          </a:xfrm>
          <a:prstGeom prst="wedgeEllipseCallout">
            <a:avLst>
              <a:gd name="adj1" fmla="val -84443"/>
              <a:gd name="adj2" fmla="val -742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あのかべ、</a:t>
            </a:r>
            <a:r>
              <a:rPr lang="ja-JP" altLang="en-US" dirty="0"/>
              <a:t>あか</a:t>
            </a:r>
            <a:r>
              <a:rPr kumimoji="1" lang="ja-JP" altLang="en-US" dirty="0"/>
              <a:t>く ぬって</a:t>
            </a:r>
            <a:r>
              <a:rPr kumimoji="1" lang="en-US" altLang="ja-JP" dirty="0"/>
              <a:t>!</a:t>
            </a:r>
            <a:endParaRPr kumimoji="1" lang="ja-JP" altLang="en-US" dirty="0"/>
          </a:p>
        </p:txBody>
      </p:sp>
      <p:pic>
        <p:nvPicPr>
          <p:cNvPr id="6" name="図 5" descr="ゲームのキャラクター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D7B9754-B3C1-29F0-920F-0BEC947B2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75" y="1228725"/>
            <a:ext cx="2381250" cy="4286250"/>
          </a:xfrm>
          <a:prstGeom prst="rect">
            <a:avLst/>
          </a:prstGeom>
        </p:spPr>
      </p:pic>
      <p:sp>
        <p:nvSpPr>
          <p:cNvPr id="7" name="吹き出し: 円形 6">
            <a:extLst>
              <a:ext uri="{FF2B5EF4-FFF2-40B4-BE49-F238E27FC236}">
                <a16:creationId xmlns:a16="http://schemas.microsoft.com/office/drawing/2014/main" id="{DEDD9E04-762E-151B-28E2-0CD7D42C7B61}"/>
              </a:ext>
            </a:extLst>
          </p:cNvPr>
          <p:cNvSpPr/>
          <p:nvPr/>
        </p:nvSpPr>
        <p:spPr>
          <a:xfrm>
            <a:off x="1592036" y="3861707"/>
            <a:ext cx="2977243" cy="1575707"/>
          </a:xfrm>
          <a:prstGeom prst="wedgeEllipseCallout">
            <a:avLst>
              <a:gd name="adj1" fmla="val -80893"/>
              <a:gd name="adj2" fmla="val 85298"/>
            </a:avLst>
          </a:prstGeom>
          <a:ln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このドキュメント、しばらく 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あずかって</a:t>
            </a:r>
            <a:r>
              <a:rPr kumimoji="1" lang="en-US" altLang="ja-JP" dirty="0"/>
              <a:t>!</a:t>
            </a:r>
            <a:endParaRPr kumimoji="1" lang="ja-JP" altLang="en-US" dirty="0"/>
          </a:p>
        </p:txBody>
      </p:sp>
      <p:sp>
        <p:nvSpPr>
          <p:cNvPr id="9" name="吹き出し: 円形 8">
            <a:extLst>
              <a:ext uri="{FF2B5EF4-FFF2-40B4-BE49-F238E27FC236}">
                <a16:creationId xmlns:a16="http://schemas.microsoft.com/office/drawing/2014/main" id="{EBABEC24-B9D7-A156-3E48-3CA509B18E76}"/>
              </a:ext>
            </a:extLst>
          </p:cNvPr>
          <p:cNvSpPr/>
          <p:nvPr/>
        </p:nvSpPr>
        <p:spPr>
          <a:xfrm>
            <a:off x="7622721" y="4520293"/>
            <a:ext cx="3864429" cy="1575707"/>
          </a:xfrm>
          <a:prstGeom prst="wedgeEllipseCallout">
            <a:avLst>
              <a:gd name="adj1" fmla="val 54906"/>
              <a:gd name="adj2" fmla="val 7959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この</a:t>
            </a:r>
            <a:r>
              <a:rPr lang="ja-JP" altLang="en-US" dirty="0"/>
              <a:t>ぶひん</a:t>
            </a:r>
            <a:r>
              <a:rPr kumimoji="1" lang="ja-JP" altLang="en-US" dirty="0"/>
              <a:t>、こうじょうに もっていって</a:t>
            </a:r>
            <a:r>
              <a:rPr kumimoji="1" lang="en-US" altLang="ja-JP" dirty="0"/>
              <a:t>!</a:t>
            </a:r>
            <a:endParaRPr kumimoji="1" lang="ja-JP" altLang="en-US" dirty="0"/>
          </a:p>
        </p:txBody>
      </p:sp>
      <p:sp>
        <p:nvSpPr>
          <p:cNvPr id="10" name="思考の吹き出し: 雲形 9">
            <a:extLst>
              <a:ext uri="{FF2B5EF4-FFF2-40B4-BE49-F238E27FC236}">
                <a16:creationId xmlns:a16="http://schemas.microsoft.com/office/drawing/2014/main" id="{EE8E500C-9AF2-9591-0F56-AED224727E98}"/>
              </a:ext>
            </a:extLst>
          </p:cNvPr>
          <p:cNvSpPr/>
          <p:nvPr/>
        </p:nvSpPr>
        <p:spPr>
          <a:xfrm>
            <a:off x="7622721" y="644980"/>
            <a:ext cx="4182836" cy="2939142"/>
          </a:xfrm>
          <a:prstGeom prst="cloudCallout">
            <a:avLst>
              <a:gd name="adj1" fmla="val -71104"/>
              <a:gd name="adj2" fmla="val -25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わたし</a:t>
            </a:r>
            <a:r>
              <a:rPr kumimoji="1" lang="ja-JP" altLang="en-US" dirty="0"/>
              <a:t>は オブジェクト</a:t>
            </a:r>
            <a:r>
              <a:rPr lang="ja-JP" altLang="en-US" dirty="0"/>
              <a:t>です。</a:t>
            </a:r>
            <a:endParaRPr lang="en-US" altLang="ja-JP" dirty="0"/>
          </a:p>
          <a:p>
            <a:pPr algn="ctr"/>
            <a:r>
              <a:rPr kumimoji="1" lang="ja-JP" altLang="en-US" dirty="0"/>
              <a:t>しごとの </a:t>
            </a:r>
            <a:r>
              <a:rPr lang="ja-JP" altLang="en-US" dirty="0"/>
              <a:t>いらい</a:t>
            </a:r>
            <a:r>
              <a:rPr kumimoji="1" lang="ja-JP" altLang="en-US" dirty="0"/>
              <a:t>、</a:t>
            </a:r>
            <a:endParaRPr kumimoji="1" lang="en-US" altLang="ja-JP" dirty="0"/>
          </a:p>
          <a:p>
            <a:pPr algn="ctr"/>
            <a:r>
              <a:rPr lang="ja-JP" altLang="en-US" dirty="0"/>
              <a:t>う</a:t>
            </a:r>
            <a:r>
              <a:rPr kumimoji="1" lang="ja-JP" altLang="en-US" dirty="0"/>
              <a:t>けますよ！</a:t>
            </a:r>
          </a:p>
        </p:txBody>
      </p:sp>
    </p:spTree>
    <p:extLst>
      <p:ext uri="{BB962C8B-B14F-4D97-AF65-F5344CB8AC3E}">
        <p14:creationId xmlns:p14="http://schemas.microsoft.com/office/powerpoint/2010/main" val="47363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8CA86-0690-FA5C-0228-EFAD27F4B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ゲームのキャラクター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C12999B-C7B1-E16E-F0E9-B3C576092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96" y="528637"/>
            <a:ext cx="2019015" cy="1692049"/>
          </a:xfrm>
          <a:prstGeom prst="rect">
            <a:avLst/>
          </a:prstGeom>
        </p:spPr>
      </p:pic>
      <p:pic>
        <p:nvPicPr>
          <p:cNvPr id="7" name="図 6" descr="光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40A7729-4498-46B5-6B3A-A3826CBAC0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12" y="2343149"/>
            <a:ext cx="1642182" cy="1861457"/>
          </a:xfrm>
          <a:prstGeom prst="rect">
            <a:avLst/>
          </a:prstGeom>
        </p:spPr>
      </p:pic>
      <p:pic>
        <p:nvPicPr>
          <p:cNvPr id="9" name="図 8" descr="光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E4A5D56-7039-EDB2-1E43-62380C7C2D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20" y="4204606"/>
            <a:ext cx="1762965" cy="2179864"/>
          </a:xfrm>
          <a:prstGeom prst="rect">
            <a:avLst/>
          </a:prstGeom>
        </p:spPr>
      </p:pic>
      <p:sp>
        <p:nvSpPr>
          <p:cNvPr id="10" name="吹き出し: 円形 9">
            <a:extLst>
              <a:ext uri="{FF2B5EF4-FFF2-40B4-BE49-F238E27FC236}">
                <a16:creationId xmlns:a16="http://schemas.microsoft.com/office/drawing/2014/main" id="{107EB8A6-CC62-9FE2-4E83-93CA0369ED54}"/>
              </a:ext>
            </a:extLst>
          </p:cNvPr>
          <p:cNvSpPr/>
          <p:nvPr/>
        </p:nvSpPr>
        <p:spPr>
          <a:xfrm>
            <a:off x="783774" y="528637"/>
            <a:ext cx="979714" cy="589870"/>
          </a:xfrm>
          <a:prstGeom prst="wedgeEllipseCallout">
            <a:avLst>
              <a:gd name="adj1" fmla="val -9166"/>
              <a:gd name="adj2" fmla="val 5834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ON</a:t>
            </a:r>
            <a:endParaRPr kumimoji="1" lang="ja-JP" altLang="en-US" dirty="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8C5102E-DFF7-1D48-182A-8B255B53A437}"/>
              </a:ext>
            </a:extLst>
          </p:cNvPr>
          <p:cNvSpPr txBox="1"/>
          <p:nvPr/>
        </p:nvSpPr>
        <p:spPr>
          <a:xfrm>
            <a:off x="3282707" y="1118507"/>
            <a:ext cx="3262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だれか スイッチを おした</a:t>
            </a:r>
            <a:endParaRPr kumimoji="1" lang="ja-JP" altLang="en-US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5269400-24F2-FF54-5FF9-F3898F9A9427}"/>
              </a:ext>
            </a:extLst>
          </p:cNvPr>
          <p:cNvSpPr txBox="1"/>
          <p:nvPr/>
        </p:nvSpPr>
        <p:spPr>
          <a:xfrm>
            <a:off x="3282707" y="2858378"/>
            <a:ext cx="3130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かべの でんきゅうに </a:t>
            </a:r>
            <a:endParaRPr lang="en-US" altLang="ja-JP" sz="2400" dirty="0"/>
          </a:p>
          <a:p>
            <a:r>
              <a:rPr kumimoji="1" lang="ja-JP" altLang="en-US" sz="2400" dirty="0"/>
              <a:t>でんきを ながす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C515835-AC3C-619C-C4E9-792AA76E6AE9}"/>
              </a:ext>
            </a:extLst>
          </p:cNvPr>
          <p:cNvSpPr txBox="1"/>
          <p:nvPr/>
        </p:nvSpPr>
        <p:spPr>
          <a:xfrm>
            <a:off x="3590484" y="4980212"/>
            <a:ext cx="27350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あかりが ついた！</a:t>
            </a:r>
            <a:endParaRPr kumimoji="1" lang="ja-JP" altLang="en-US" sz="2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9E4B49D-F8C7-A240-877A-6186304D9969}"/>
              </a:ext>
            </a:extLst>
          </p:cNvPr>
          <p:cNvSpPr txBox="1"/>
          <p:nvPr/>
        </p:nvSpPr>
        <p:spPr>
          <a:xfrm>
            <a:off x="7756738" y="1118506"/>
            <a:ext cx="27350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イベントが おきた</a:t>
            </a:r>
            <a:endParaRPr kumimoji="1" lang="ja-JP" altLang="en-US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026282E-2BB9-61AC-F561-2FBB1462C1FA}"/>
              </a:ext>
            </a:extLst>
          </p:cNvPr>
          <p:cNvSpPr txBox="1"/>
          <p:nvPr/>
        </p:nvSpPr>
        <p:spPr>
          <a:xfrm>
            <a:off x="7250991" y="2862386"/>
            <a:ext cx="36583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オブジェクトを </a:t>
            </a:r>
            <a:r>
              <a:rPr lang="ja-JP" altLang="en-US" sz="2400" dirty="0"/>
              <a:t>えら</a:t>
            </a:r>
            <a:r>
              <a:rPr kumimoji="1" lang="ja-JP" altLang="en-US" sz="2400" dirty="0"/>
              <a:t>んで</a:t>
            </a:r>
            <a:endParaRPr kumimoji="1" lang="en-US" altLang="ja-JP" sz="2400" dirty="0"/>
          </a:p>
          <a:p>
            <a:pPr algn="ctr"/>
            <a:r>
              <a:rPr lang="ja-JP" altLang="en-US" sz="2400" dirty="0"/>
              <a:t>めいれいする</a:t>
            </a:r>
            <a:endParaRPr kumimoji="1" lang="ja-JP" altLang="en-US" sz="2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5BE5446-70B1-8E53-0444-176CA8C66623}"/>
              </a:ext>
            </a:extLst>
          </p:cNvPr>
          <p:cNvSpPr txBox="1"/>
          <p:nvPr/>
        </p:nvSpPr>
        <p:spPr>
          <a:xfrm>
            <a:off x="7756738" y="4980211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プログラムが </a:t>
            </a:r>
            <a:r>
              <a:rPr lang="ja-JP" altLang="en-US" sz="2400" dirty="0"/>
              <a:t>うごく</a:t>
            </a:r>
            <a:endParaRPr kumimoji="1" lang="ja-JP" altLang="en-US" sz="2400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C566CDFD-892D-0687-1B47-334653BC37F9}"/>
              </a:ext>
            </a:extLst>
          </p:cNvPr>
          <p:cNvCxnSpPr/>
          <p:nvPr/>
        </p:nvCxnSpPr>
        <p:spPr>
          <a:xfrm>
            <a:off x="563336" y="2343149"/>
            <a:ext cx="111034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E28AEEC-35D0-529B-D069-C6094C1D8EF6}"/>
              </a:ext>
            </a:extLst>
          </p:cNvPr>
          <p:cNvCxnSpPr/>
          <p:nvPr/>
        </p:nvCxnSpPr>
        <p:spPr>
          <a:xfrm>
            <a:off x="618042" y="4204606"/>
            <a:ext cx="111034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96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E308218-360A-CD4C-F26B-85B7DFAF5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C50F08-B692-40AC-05F4-23075A24BEE9}"/>
              </a:ext>
            </a:extLst>
          </p:cNvPr>
          <p:cNvSpPr txBox="1"/>
          <p:nvPr/>
        </p:nvSpPr>
        <p:spPr>
          <a:xfrm>
            <a:off x="532712" y="391885"/>
            <a:ext cx="4748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b="1" dirty="0"/>
              <a:t>I. </a:t>
            </a:r>
            <a:r>
              <a:rPr kumimoji="1" lang="ja-JP" altLang="en-US" sz="3600" b="1" dirty="0"/>
              <a:t>オブジェクトの中身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26B592-2BB2-164D-CEE0-4B3DE6940966}"/>
              </a:ext>
            </a:extLst>
          </p:cNvPr>
          <p:cNvSpPr txBox="1"/>
          <p:nvPr/>
        </p:nvSpPr>
        <p:spPr>
          <a:xfrm>
            <a:off x="1012371" y="1796143"/>
            <a:ext cx="2672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オブジェクトを</a:t>
            </a:r>
            <a:endParaRPr kumimoji="1" lang="en-US" altLang="ja-JP" dirty="0"/>
          </a:p>
          <a:p>
            <a:r>
              <a:rPr kumimoji="1" lang="ja-JP" altLang="en-US" dirty="0"/>
              <a:t>作業員</a:t>
            </a:r>
            <a:r>
              <a:rPr kumimoji="1" lang="en-US" altLang="ja-JP" dirty="0"/>
              <a:t>(</a:t>
            </a:r>
            <a:r>
              <a:rPr kumimoji="1" lang="ja-JP" altLang="en-US" dirty="0"/>
              <a:t>さぎょういん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</a:t>
            </a:r>
            <a:endParaRPr kumimoji="1" lang="en-US" altLang="ja-JP" dirty="0"/>
          </a:p>
          <a:p>
            <a:r>
              <a:rPr lang="ja-JP" altLang="en-US" dirty="0"/>
              <a:t>たとえて、</a:t>
            </a:r>
            <a:endParaRPr lang="en-US" altLang="ja-JP" dirty="0"/>
          </a:p>
          <a:p>
            <a:r>
              <a:rPr lang="ja-JP" altLang="en-US" dirty="0"/>
              <a:t>説明</a:t>
            </a:r>
            <a:r>
              <a:rPr lang="en-US" altLang="ja-JP" dirty="0"/>
              <a:t>(</a:t>
            </a:r>
            <a:r>
              <a:rPr lang="ja-JP" altLang="en-US" dirty="0"/>
              <a:t>せつめい</a:t>
            </a:r>
            <a:r>
              <a:rPr lang="en-US" altLang="ja-JP" dirty="0"/>
              <a:t>)</a:t>
            </a:r>
            <a:r>
              <a:rPr lang="ja-JP" altLang="en-US" dirty="0"/>
              <a:t>します。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0357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D3D2A-FC9B-F065-0A52-D72263BD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106BE13-E0BC-0660-54CE-F5C74138F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69A9C462-B9D4-4FD3-A117-6717784BC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664467"/>
              </p:ext>
            </p:extLst>
          </p:nvPr>
        </p:nvGraphicFramePr>
        <p:xfrm>
          <a:off x="7805057" y="728334"/>
          <a:ext cx="3992335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335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プロパティとは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オブジェクトの様子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ようす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オブジェクトの持ち物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もちもの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indent="0" algn="r">
                        <a:buFontTx/>
                        <a:buNone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など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着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き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ている服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ふく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の色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いろ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：青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あお</a:t>
                      </a:r>
                      <a:r>
                        <a:rPr kumimoji="1" lang="en-US" altLang="ja-JP" sz="1400" dirty="0"/>
                        <a:t>)</a:t>
                      </a:r>
                    </a:p>
                    <a:p>
                      <a:r>
                        <a:rPr kumimoji="1" lang="ja-JP" altLang="en-US" sz="1400" dirty="0"/>
                        <a:t>履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は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いている靴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くつ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の色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いろ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：ベージュ</a:t>
                      </a:r>
                      <a:endParaRPr kumimoji="1" lang="en-US" altLang="ja-JP" sz="1400" dirty="0"/>
                    </a:p>
                    <a:p>
                      <a:r>
                        <a:rPr kumimoji="1" lang="ja-JP" altLang="en-US" sz="1400" dirty="0"/>
                        <a:t>髪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かみ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：ショートヘア</a:t>
                      </a:r>
                      <a:endParaRPr kumimoji="1" lang="en-US" altLang="ja-JP" sz="1400" dirty="0"/>
                    </a:p>
                    <a:p>
                      <a:r>
                        <a:rPr kumimoji="1" lang="ja-JP" altLang="en-US" sz="1400" dirty="0"/>
                        <a:t>カバンの種類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しゅるい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：ショルダーバッグ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99F086-0920-CF29-3FAA-14419D0E6637}"/>
              </a:ext>
            </a:extLst>
          </p:cNvPr>
          <p:cNvSpPr txBox="1"/>
          <p:nvPr/>
        </p:nvSpPr>
        <p:spPr>
          <a:xfrm>
            <a:off x="624513" y="1779814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オブジェクトには</a:t>
            </a:r>
            <a:endParaRPr kumimoji="1" lang="en-US" altLang="ja-JP" dirty="0"/>
          </a:p>
          <a:p>
            <a:r>
              <a:rPr lang="ja-JP" altLang="en-US" dirty="0"/>
              <a:t>「</a:t>
            </a:r>
            <a:r>
              <a:rPr lang="ja-JP" altLang="en-US" b="1" dirty="0"/>
              <a:t>プロパティ</a:t>
            </a:r>
            <a:r>
              <a:rPr lang="ja-JP" altLang="en-US" dirty="0"/>
              <a:t>」があります。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30678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2C269-ADC0-F1F5-1338-EF202BF6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006B345-B603-F007-B086-47E5E730F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7B65E381-4BA8-D689-68F4-77C49A967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129129"/>
              </p:ext>
            </p:extLst>
          </p:nvPr>
        </p:nvGraphicFramePr>
        <p:xfrm>
          <a:off x="394609" y="728334"/>
          <a:ext cx="3542910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2910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メソッドとは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オブジェクトの動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うご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)</a:t>
                      </a: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機械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きかい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を修理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しゅうり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する</a:t>
                      </a:r>
                      <a:endParaRPr kumimoji="1" lang="en-US" altLang="ja-JP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カバンからものを出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だ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す</a:t>
                      </a:r>
                      <a:endParaRPr kumimoji="1" lang="en-US" altLang="ja-JP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カバンにものを入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い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れる</a:t>
                      </a:r>
                      <a:endParaRPr kumimoji="1" lang="en-US" altLang="ja-JP" sz="1400" dirty="0"/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など</a:t>
                      </a:r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E6F17C8D-24A8-09FC-4F66-1F721C186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885368"/>
              </p:ext>
            </p:extLst>
          </p:nvPr>
        </p:nvGraphicFramePr>
        <p:xfrm>
          <a:off x="7805057" y="728334"/>
          <a:ext cx="3992335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335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プロパティとは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オブジェクトの様子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ようす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オブジェクトの持ち物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もちもの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indent="0" algn="r">
                        <a:buFontTx/>
                        <a:buNone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など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着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き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ている服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ふく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の色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いろ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：青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あお</a:t>
                      </a:r>
                      <a:r>
                        <a:rPr kumimoji="1" lang="en-US" altLang="ja-JP" sz="1400" dirty="0"/>
                        <a:t>)</a:t>
                      </a:r>
                    </a:p>
                    <a:p>
                      <a:r>
                        <a:rPr kumimoji="1" lang="ja-JP" altLang="en-US" sz="1400" dirty="0"/>
                        <a:t>履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は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いている靴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くつ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の色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いろ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：ベージュ</a:t>
                      </a:r>
                      <a:endParaRPr kumimoji="1" lang="en-US" altLang="ja-JP" sz="1400" dirty="0"/>
                    </a:p>
                    <a:p>
                      <a:r>
                        <a:rPr kumimoji="1" lang="ja-JP" altLang="en-US" sz="1400" dirty="0"/>
                        <a:t>髪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かみ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：ショートヘア</a:t>
                      </a:r>
                      <a:endParaRPr kumimoji="1" lang="en-US" altLang="ja-JP" sz="1400" dirty="0"/>
                    </a:p>
                    <a:p>
                      <a:r>
                        <a:rPr kumimoji="1" lang="ja-JP" altLang="en-US" sz="1400" dirty="0"/>
                        <a:t>カバンの種類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しゅるい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：ショルダーバッグ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82932B8-6BE4-8004-E142-2B65B9E72EB8}"/>
              </a:ext>
            </a:extLst>
          </p:cNvPr>
          <p:cNvSpPr txBox="1"/>
          <p:nvPr/>
        </p:nvSpPr>
        <p:spPr>
          <a:xfrm>
            <a:off x="752032" y="4898571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オブジェクトには</a:t>
            </a:r>
            <a:endParaRPr kumimoji="1" lang="en-US" altLang="ja-JP" dirty="0"/>
          </a:p>
          <a:p>
            <a:r>
              <a:rPr lang="ja-JP" altLang="en-US" dirty="0"/>
              <a:t>「</a:t>
            </a:r>
            <a:r>
              <a:rPr lang="ja-JP" altLang="en-US" b="1" dirty="0"/>
              <a:t>メソッド</a:t>
            </a:r>
            <a:r>
              <a:rPr lang="ja-JP" altLang="en-US" dirty="0"/>
              <a:t>」があります。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7437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67A195F-31E9-C27C-4A37-06507BF1BD8D}"/>
              </a:ext>
            </a:extLst>
          </p:cNvPr>
          <p:cNvSpPr txBox="1"/>
          <p:nvPr/>
        </p:nvSpPr>
        <p:spPr>
          <a:xfrm>
            <a:off x="1053848" y="2802757"/>
            <a:ext cx="104198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【</a:t>
            </a:r>
            <a:r>
              <a:rPr kumimoji="1" lang="ja-JP" altLang="en-US" sz="4000" dirty="0"/>
              <a:t>たとえ</a:t>
            </a:r>
            <a:r>
              <a:rPr kumimoji="1" lang="en-US" altLang="ja-JP" sz="4000" dirty="0"/>
              <a:t>】</a:t>
            </a:r>
          </a:p>
          <a:p>
            <a:r>
              <a:rPr kumimoji="1" lang="ja-JP" altLang="en-US" sz="4000" dirty="0"/>
              <a:t>着</a:t>
            </a:r>
            <a:r>
              <a:rPr kumimoji="1" lang="en-US" altLang="ja-JP" sz="4000" dirty="0"/>
              <a:t>(</a:t>
            </a:r>
            <a:r>
              <a:rPr kumimoji="1" lang="ja-JP" altLang="en-US" sz="4000" dirty="0"/>
              <a:t>き</a:t>
            </a:r>
            <a:r>
              <a:rPr kumimoji="1" lang="en-US" altLang="ja-JP" sz="4000" dirty="0"/>
              <a:t>)</a:t>
            </a:r>
            <a:r>
              <a:rPr kumimoji="1" lang="ja-JP" altLang="en-US" sz="4000" dirty="0"/>
              <a:t>ている服</a:t>
            </a:r>
            <a:r>
              <a:rPr kumimoji="1" lang="en-US" altLang="ja-JP" sz="4000" dirty="0"/>
              <a:t>(</a:t>
            </a:r>
            <a:r>
              <a:rPr kumimoji="1" lang="ja-JP" altLang="en-US" sz="4000" dirty="0"/>
              <a:t>ふく</a:t>
            </a:r>
            <a:r>
              <a:rPr kumimoji="1" lang="en-US" altLang="ja-JP" sz="4000" dirty="0"/>
              <a:t>)</a:t>
            </a:r>
            <a:r>
              <a:rPr kumimoji="1" lang="ja-JP" altLang="en-US" sz="4000" dirty="0"/>
              <a:t>の色</a:t>
            </a:r>
            <a:r>
              <a:rPr kumimoji="1" lang="en-US" altLang="ja-JP" sz="4000" dirty="0"/>
              <a:t>(</a:t>
            </a:r>
            <a:r>
              <a:rPr kumimoji="1" lang="ja-JP" altLang="en-US" sz="4000" dirty="0"/>
              <a:t>いろ</a:t>
            </a:r>
            <a:r>
              <a:rPr kumimoji="1" lang="en-US" altLang="ja-JP" sz="4000" dirty="0"/>
              <a:t>)</a:t>
            </a:r>
            <a:r>
              <a:rPr kumimoji="1" lang="ja-JP" altLang="en-US" sz="4000" dirty="0"/>
              <a:t> ←  </a:t>
            </a:r>
            <a:r>
              <a:rPr lang="ja-JP" altLang="en-US" sz="4000" dirty="0">
                <a:solidFill>
                  <a:srgbClr val="FF0000"/>
                </a:solidFill>
              </a:rPr>
              <a:t>赤</a:t>
            </a:r>
            <a:r>
              <a:rPr lang="en-US" altLang="ja-JP" sz="4000" dirty="0">
                <a:solidFill>
                  <a:srgbClr val="FF0000"/>
                </a:solidFill>
              </a:rPr>
              <a:t>(</a:t>
            </a:r>
            <a:r>
              <a:rPr lang="ja-JP" altLang="en-US" sz="4000" dirty="0">
                <a:solidFill>
                  <a:srgbClr val="FF0000"/>
                </a:solidFill>
              </a:rPr>
              <a:t>あか</a:t>
            </a:r>
            <a:r>
              <a:rPr lang="en-US" altLang="ja-JP" sz="4000" dirty="0">
                <a:solidFill>
                  <a:srgbClr val="FF0000"/>
                </a:solidFill>
              </a:rPr>
              <a:t>)</a:t>
            </a:r>
            <a:endParaRPr kumimoji="1" lang="ja-JP" altLang="en-US" sz="4000" dirty="0">
              <a:solidFill>
                <a:srgbClr val="FF000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85D2DA-2668-1EE3-3A66-354BD44F32C6}"/>
              </a:ext>
            </a:extLst>
          </p:cNvPr>
          <p:cNvSpPr txBox="1"/>
          <p:nvPr/>
        </p:nvSpPr>
        <p:spPr>
          <a:xfrm>
            <a:off x="532712" y="391885"/>
            <a:ext cx="5731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b="1" dirty="0"/>
              <a:t>II. </a:t>
            </a:r>
            <a:r>
              <a:rPr kumimoji="1" lang="ja-JP" altLang="en-US" sz="3600" b="1" dirty="0"/>
              <a:t>プロパティを変</a:t>
            </a:r>
            <a:r>
              <a:rPr kumimoji="1" lang="en-US" altLang="ja-JP" sz="3600" b="1" dirty="0"/>
              <a:t>(</a:t>
            </a:r>
            <a:r>
              <a:rPr kumimoji="1" lang="ja-JP" altLang="en-US" sz="3600" b="1" dirty="0"/>
              <a:t>か</a:t>
            </a:r>
            <a:r>
              <a:rPr kumimoji="1" lang="en-US" altLang="ja-JP" sz="3600" b="1" dirty="0"/>
              <a:t>)</a:t>
            </a:r>
            <a:r>
              <a:rPr kumimoji="1" lang="ja-JP" altLang="en-US" sz="3600" b="1" dirty="0"/>
              <a:t>える</a:t>
            </a:r>
          </a:p>
        </p:txBody>
      </p:sp>
    </p:spTree>
    <p:extLst>
      <p:ext uri="{BB962C8B-B14F-4D97-AF65-F5344CB8AC3E}">
        <p14:creationId xmlns:p14="http://schemas.microsoft.com/office/powerpoint/2010/main" val="1654937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C6FD-829A-16CF-56D7-7EDBD60F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A5C0DA2-7F66-013D-6D1A-BF04FA2FC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C21EA6CD-DA7D-0CDE-41EA-9EE588A1A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118337"/>
              </p:ext>
            </p:extLst>
          </p:nvPr>
        </p:nvGraphicFramePr>
        <p:xfrm>
          <a:off x="7805057" y="728334"/>
          <a:ext cx="3992335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335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プロパティ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オブジェクトの様子</a:t>
                      </a:r>
                      <a:endParaRPr kumimoji="1" lang="en-US" altLang="ja-JP" sz="1400" dirty="0">
                        <a:latin typeface="+mj-ea"/>
                        <a:ea typeface="+mj-ea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オブジェクトの持ち物</a:t>
                      </a:r>
                      <a:endParaRPr kumimoji="1" lang="en-US" altLang="ja-JP" sz="1400" dirty="0">
                        <a:latin typeface="+mj-ea"/>
                        <a:ea typeface="+mj-ea"/>
                      </a:endParaRPr>
                    </a:p>
                    <a:p>
                      <a:pPr marL="0" indent="0" algn="r">
                        <a:buFontTx/>
                        <a:buNone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など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着ている服の色：</a:t>
                      </a:r>
                      <a:r>
                        <a:rPr kumimoji="1" lang="ja-JP" altLang="en-US" b="1" dirty="0">
                          <a:solidFill>
                            <a:srgbClr val="FF0000"/>
                          </a:solidFill>
                        </a:rPr>
                        <a:t>赤</a:t>
                      </a:r>
                      <a:endParaRPr kumimoji="1" lang="en-US" altLang="ja-JP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dirty="0"/>
                        <a:t>履いている靴の色：ベージュ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髪：ショートヘア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カバンの種類：ショルダーバッグ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1616CE1A-77D3-EE87-A946-C5100DD37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848658"/>
              </p:ext>
            </p:extLst>
          </p:nvPr>
        </p:nvGraphicFramePr>
        <p:xfrm>
          <a:off x="801615" y="728334"/>
          <a:ext cx="3009783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783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メソッド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機械の修理をする</a:t>
                      </a:r>
                      <a:endParaRPr kumimoji="1" lang="en-US" altLang="ja-JP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カバンから中身を出す</a:t>
                      </a:r>
                      <a:endParaRPr kumimoji="1" lang="en-US" altLang="ja-JP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カバンにものを入れる</a:t>
                      </a:r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055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458772-A55E-C3DF-F650-004E6885C1AF}"/>
              </a:ext>
            </a:extLst>
          </p:cNvPr>
          <p:cNvSpPr txBox="1"/>
          <p:nvPr/>
        </p:nvSpPr>
        <p:spPr>
          <a:xfrm>
            <a:off x="1671771" y="1111762"/>
            <a:ext cx="9152164" cy="7864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ja-JP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altLang="ja-JP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ja-JP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altLang="ja-JP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ja-JP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ja-JP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'red’"</a:t>
            </a: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800"/>
              </a:lnSpc>
            </a:pPr>
            <a:r>
              <a:rPr lang="ja-JP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   文字を赤くします</a:t>
            </a:r>
            <a:endParaRPr lang="en-US" altLang="ja-JP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ja-JP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ja-JP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E52158-02B9-098D-1232-536FCF673AC7}"/>
              </a:ext>
            </a:extLst>
          </p:cNvPr>
          <p:cNvSpPr txBox="1"/>
          <p:nvPr/>
        </p:nvSpPr>
        <p:spPr>
          <a:xfrm>
            <a:off x="3054943" y="2254568"/>
            <a:ext cx="6082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0" dirty="0">
                <a:effectLst/>
                <a:latin typeface="Consolas" panose="020B0609020204030204" pitchFamily="49" charset="0"/>
              </a:rPr>
              <a:t>ボタンをクリックすると</a:t>
            </a:r>
            <a:endParaRPr lang="en-US" altLang="ja-JP" b="0" dirty="0">
              <a:effectLst/>
              <a:latin typeface="Consolas" panose="020B0609020204030204" pitchFamily="49" charset="0"/>
            </a:endParaRPr>
          </a:p>
          <a:p>
            <a:r>
              <a:rPr lang="ja-JP" alt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「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ja-JP" alt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」</a:t>
            </a:r>
            <a:endParaRPr lang="en-US" altLang="ja-JP" b="0" dirty="0">
              <a:solidFill>
                <a:srgbClr val="268BD2"/>
              </a:solidFill>
              <a:effectLst/>
              <a:latin typeface="Consolas" panose="020B0609020204030204" pitchFamily="49" charset="0"/>
            </a:endParaRPr>
          </a:p>
          <a:p>
            <a:r>
              <a:rPr kumimoji="1" lang="ja-JP" altLang="en-US" dirty="0">
                <a:latin typeface="Consolas" panose="020B0609020204030204" pitchFamily="49" charset="0"/>
              </a:rPr>
              <a:t>というプロパティを</a:t>
            </a:r>
            <a:r>
              <a:rPr kumimoji="1" lang="en-US" altLang="ja-JP" dirty="0">
                <a:latin typeface="Consolas" panose="020B0609020204030204" pitchFamily="49" charset="0"/>
              </a:rPr>
              <a:t>’red’</a:t>
            </a:r>
            <a:r>
              <a:rPr kumimoji="1" lang="ja-JP" altLang="en-US" dirty="0">
                <a:latin typeface="Consolas" panose="020B0609020204030204" pitchFamily="49" charset="0"/>
              </a:rPr>
              <a:t>に変更</a:t>
            </a:r>
            <a:r>
              <a:rPr kumimoji="1" lang="en-US" altLang="ja-JP" dirty="0">
                <a:latin typeface="Consolas" panose="020B0609020204030204" pitchFamily="49" charset="0"/>
              </a:rPr>
              <a:t>(</a:t>
            </a:r>
            <a:r>
              <a:rPr kumimoji="1" lang="ja-JP" altLang="en-US" dirty="0">
                <a:latin typeface="Consolas" panose="020B0609020204030204" pitchFamily="49" charset="0"/>
              </a:rPr>
              <a:t>へんこう</a:t>
            </a:r>
            <a:r>
              <a:rPr kumimoji="1" lang="en-US" altLang="ja-JP" dirty="0">
                <a:latin typeface="Consolas" panose="020B0609020204030204" pitchFamily="49" charset="0"/>
              </a:rPr>
              <a:t>)</a:t>
            </a:r>
            <a:r>
              <a:rPr kumimoji="1" lang="ja-JP" altLang="en-US" dirty="0">
                <a:latin typeface="Consolas" panose="020B0609020204030204" pitchFamily="49" charset="0"/>
              </a:rPr>
              <a:t> して</a:t>
            </a:r>
            <a:endParaRPr kumimoji="1" lang="en-US" altLang="ja-JP" dirty="0">
              <a:latin typeface="Consolas" panose="020B0609020204030204" pitchFamily="49" charset="0"/>
            </a:endParaRPr>
          </a:p>
          <a:p>
            <a:r>
              <a:rPr lang="ja-JP" altLang="en-US" dirty="0"/>
              <a:t>「</a:t>
            </a:r>
            <a:r>
              <a:rPr lang="en-US" altLang="ja-JP" dirty="0"/>
              <a:t>body</a:t>
            </a:r>
            <a:r>
              <a:rPr lang="ja-JP" altLang="en-US" dirty="0"/>
              <a:t>」の中</a:t>
            </a:r>
            <a:r>
              <a:rPr lang="en-US" altLang="ja-JP" dirty="0"/>
              <a:t>(</a:t>
            </a:r>
            <a:r>
              <a:rPr lang="ja-JP" altLang="en-US" dirty="0"/>
              <a:t>なか</a:t>
            </a:r>
            <a:r>
              <a:rPr lang="en-US" altLang="ja-JP" dirty="0"/>
              <a:t>)</a:t>
            </a:r>
            <a:r>
              <a:rPr lang="ja-JP" altLang="en-US" dirty="0"/>
              <a:t> の</a:t>
            </a:r>
            <a:r>
              <a:rPr kumimoji="1" lang="ja-JP" altLang="en-US" dirty="0"/>
              <a:t>文字</a:t>
            </a:r>
            <a:r>
              <a:rPr lang="en-US" altLang="ja-JP" dirty="0"/>
              <a:t>(</a:t>
            </a:r>
            <a:r>
              <a:rPr lang="ja-JP" altLang="en-US" dirty="0"/>
              <a:t>もじ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を赤</a:t>
            </a:r>
            <a:r>
              <a:rPr kumimoji="1" lang="en-US" altLang="ja-JP" dirty="0"/>
              <a:t>(</a:t>
            </a:r>
            <a:r>
              <a:rPr kumimoji="1" lang="ja-JP" altLang="en-US" dirty="0"/>
              <a:t>あか</a:t>
            </a:r>
            <a:r>
              <a:rPr kumimoji="1" lang="en-US" altLang="ja-JP" dirty="0"/>
              <a:t>)</a:t>
            </a:r>
            <a:r>
              <a:rPr kumimoji="1" lang="ja-JP" altLang="en-US" dirty="0"/>
              <a:t>くします。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8248525-E175-A6F2-FE19-2F9826D07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618" y="3841980"/>
            <a:ext cx="4277322" cy="209579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8B35828-F30F-8A83-E4DF-B7E94854F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534" y="3782750"/>
            <a:ext cx="4105848" cy="2095792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ECCCD168-F171-8B0A-55A5-00773E38266B}"/>
              </a:ext>
            </a:extLst>
          </p:cNvPr>
          <p:cNvSpPr/>
          <p:nvPr/>
        </p:nvSpPr>
        <p:spPr>
          <a:xfrm>
            <a:off x="5564940" y="4595056"/>
            <a:ext cx="531060" cy="317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5E03359-680F-287F-3949-0B20059B694B}"/>
              </a:ext>
            </a:extLst>
          </p:cNvPr>
          <p:cNvSpPr txBox="1"/>
          <p:nvPr/>
        </p:nvSpPr>
        <p:spPr>
          <a:xfrm>
            <a:off x="771524" y="38612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JavaScript</a:t>
            </a:r>
            <a:r>
              <a:rPr kumimoji="1" lang="ja-JP" altLang="en-US" b="1" dirty="0"/>
              <a:t>の例</a:t>
            </a:r>
          </a:p>
        </p:txBody>
      </p:sp>
    </p:spTree>
    <p:extLst>
      <p:ext uri="{BB962C8B-B14F-4D97-AF65-F5344CB8AC3E}">
        <p14:creationId xmlns:p14="http://schemas.microsoft.com/office/powerpoint/2010/main" val="774859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329D-6D45-7F87-CFF4-D1227630C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B8128FC-C783-EEC2-5605-E0500C2B380F}"/>
              </a:ext>
            </a:extLst>
          </p:cNvPr>
          <p:cNvSpPr txBox="1"/>
          <p:nvPr/>
        </p:nvSpPr>
        <p:spPr>
          <a:xfrm>
            <a:off x="1279616" y="2767280"/>
            <a:ext cx="970009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【</a:t>
            </a:r>
            <a:r>
              <a:rPr kumimoji="1" lang="ja-JP" altLang="en-US" sz="4000" dirty="0"/>
              <a:t>たとえ</a:t>
            </a:r>
            <a:r>
              <a:rPr kumimoji="1" lang="en-US" altLang="ja-JP" sz="4000" dirty="0"/>
              <a:t>】</a:t>
            </a:r>
          </a:p>
          <a:p>
            <a:r>
              <a:rPr kumimoji="1" lang="ja-JP" altLang="en-US" sz="4000" dirty="0"/>
              <a:t>「機械</a:t>
            </a:r>
            <a:r>
              <a:rPr kumimoji="1" lang="en-US" altLang="ja-JP" sz="4000" dirty="0"/>
              <a:t>(</a:t>
            </a:r>
            <a:r>
              <a:rPr kumimoji="1" lang="ja-JP" altLang="en-US" sz="4000" dirty="0"/>
              <a:t>きかい</a:t>
            </a:r>
            <a:r>
              <a:rPr kumimoji="1" lang="en-US" altLang="ja-JP" sz="4000" dirty="0"/>
              <a:t>)</a:t>
            </a:r>
            <a:r>
              <a:rPr lang="ja-JP" altLang="en-US" sz="4000" dirty="0"/>
              <a:t>の</a:t>
            </a:r>
            <a:r>
              <a:rPr kumimoji="1" lang="ja-JP" altLang="en-US" sz="4000" dirty="0"/>
              <a:t>修理</a:t>
            </a:r>
            <a:r>
              <a:rPr kumimoji="1" lang="en-US" altLang="ja-JP" sz="4000" dirty="0"/>
              <a:t>(</a:t>
            </a:r>
            <a:r>
              <a:rPr kumimoji="1" lang="ja-JP" altLang="en-US" sz="4000" dirty="0"/>
              <a:t>しゅうり</a:t>
            </a:r>
            <a:r>
              <a:rPr kumimoji="1" lang="en-US" altLang="ja-JP" sz="4000" dirty="0"/>
              <a:t>)</a:t>
            </a:r>
            <a:r>
              <a:rPr kumimoji="1" lang="ja-JP" altLang="en-US" sz="4000" dirty="0"/>
              <a:t>をする」</a:t>
            </a:r>
            <a:endParaRPr kumimoji="1" lang="en-US" altLang="ja-JP" sz="4000" dirty="0"/>
          </a:p>
          <a:p>
            <a:r>
              <a:rPr lang="ja-JP" altLang="en-US" sz="4000" dirty="0"/>
              <a:t>と命令</a:t>
            </a:r>
            <a:r>
              <a:rPr lang="en-US" altLang="ja-JP" sz="4000" dirty="0"/>
              <a:t>(</a:t>
            </a:r>
            <a:r>
              <a:rPr lang="ja-JP" altLang="en-US" sz="4000" dirty="0"/>
              <a:t>めいれい</a:t>
            </a:r>
            <a:r>
              <a:rPr lang="en-US" altLang="ja-JP" sz="4000" dirty="0"/>
              <a:t>)</a:t>
            </a:r>
            <a:r>
              <a:rPr lang="ja-JP" altLang="en-US" sz="4000" dirty="0"/>
              <a:t>する</a:t>
            </a:r>
            <a:endParaRPr kumimoji="1" lang="ja-JP" altLang="en-US" sz="40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F3CDD36-AA72-8497-4BBD-CB9ACBBC975C}"/>
              </a:ext>
            </a:extLst>
          </p:cNvPr>
          <p:cNvSpPr txBox="1"/>
          <p:nvPr/>
        </p:nvSpPr>
        <p:spPr>
          <a:xfrm>
            <a:off x="532712" y="391885"/>
            <a:ext cx="64331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b="1" dirty="0"/>
              <a:t>II.</a:t>
            </a:r>
            <a:r>
              <a:rPr kumimoji="1" lang="ja-JP" altLang="en-US" sz="3600" b="1" dirty="0"/>
              <a:t>メソッドを呼</a:t>
            </a:r>
            <a:r>
              <a:rPr kumimoji="1" lang="en-US" altLang="ja-JP" sz="3600" b="1" dirty="0"/>
              <a:t>(</a:t>
            </a:r>
            <a:r>
              <a:rPr kumimoji="1" lang="ja-JP" altLang="en-US" sz="3600" b="1" dirty="0"/>
              <a:t>よ</a:t>
            </a:r>
            <a:r>
              <a:rPr kumimoji="1" lang="en-US" altLang="ja-JP" sz="3600" b="1" dirty="0"/>
              <a:t>)</a:t>
            </a:r>
            <a:r>
              <a:rPr kumimoji="1" lang="ja-JP" altLang="en-US" sz="3600" b="1" dirty="0"/>
              <a:t>び出</a:t>
            </a:r>
            <a:r>
              <a:rPr kumimoji="1" lang="en-US" altLang="ja-JP" sz="3600" b="1" dirty="0"/>
              <a:t>(</a:t>
            </a:r>
            <a:r>
              <a:rPr kumimoji="1" lang="ja-JP" altLang="en-US" sz="3600" b="1" dirty="0"/>
              <a:t>だ</a:t>
            </a:r>
            <a:r>
              <a:rPr kumimoji="1" lang="en-US" altLang="ja-JP" sz="3600" b="1" dirty="0"/>
              <a:t>)</a:t>
            </a:r>
            <a:r>
              <a:rPr kumimoji="1" lang="ja-JP" altLang="en-US" sz="3600" b="1" dirty="0"/>
              <a:t>す</a:t>
            </a:r>
          </a:p>
        </p:txBody>
      </p:sp>
    </p:spTree>
    <p:extLst>
      <p:ext uri="{BB962C8B-B14F-4D97-AF65-F5344CB8AC3E}">
        <p14:creationId xmlns:p14="http://schemas.microsoft.com/office/powerpoint/2010/main" val="4182217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FF450-2D2C-D654-DC6E-77E88011A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653FB27-E6D6-F6DA-BD8F-110223400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4F879B7A-13D3-8D7B-3605-8A908DF48E10}"/>
              </a:ext>
            </a:extLst>
          </p:cNvPr>
          <p:cNvGraphicFramePr>
            <a:graphicFrameLocks noGrp="1"/>
          </p:cNvGraphicFramePr>
          <p:nvPr/>
        </p:nvGraphicFramePr>
        <p:xfrm>
          <a:off x="7805057" y="728334"/>
          <a:ext cx="3992335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335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プロパティ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オブジェクトの様子</a:t>
                      </a:r>
                      <a:endParaRPr kumimoji="1" lang="en-US" altLang="ja-JP" sz="1400" dirty="0">
                        <a:latin typeface="+mj-ea"/>
                        <a:ea typeface="+mj-ea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オブジェクトの持ち物</a:t>
                      </a:r>
                      <a:endParaRPr kumimoji="1" lang="en-US" altLang="ja-JP" sz="1400" dirty="0">
                        <a:latin typeface="+mj-ea"/>
                        <a:ea typeface="+mj-ea"/>
                      </a:endParaRPr>
                    </a:p>
                    <a:p>
                      <a:pPr marL="0" indent="0" algn="r">
                        <a:buFontTx/>
                        <a:buNone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など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着ている服の色：</a:t>
                      </a:r>
                      <a:r>
                        <a:rPr kumimoji="1" lang="ja-JP" altLang="en-US" b="1" dirty="0">
                          <a:solidFill>
                            <a:srgbClr val="FF0000"/>
                          </a:solidFill>
                        </a:rPr>
                        <a:t>赤</a:t>
                      </a:r>
                      <a:endParaRPr kumimoji="1" lang="en-US" altLang="ja-JP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dirty="0"/>
                        <a:t>履いている靴の色：ベージュ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髪：ショートヘア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カバンの種類：ショルダーバッグ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B1667707-AE54-C4A4-BB63-50ADC90C0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096390"/>
              </p:ext>
            </p:extLst>
          </p:nvPr>
        </p:nvGraphicFramePr>
        <p:xfrm>
          <a:off x="801615" y="728334"/>
          <a:ext cx="3009783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783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メソッド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 dirty="0">
                          <a:solidFill>
                            <a:srgbClr val="FF0000"/>
                          </a:solidFill>
                        </a:rPr>
                        <a:t>機械の修理をする</a:t>
                      </a:r>
                      <a:endParaRPr kumimoji="1" lang="en-US" altLang="ja-JP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カバンから中身を出す</a:t>
                      </a:r>
                      <a:endParaRPr kumimoji="1" lang="en-US" altLang="ja-JP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カバンにものを入れる</a:t>
                      </a:r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699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EC459-9D09-E7E5-DAC2-FEF88E69B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530B350-C833-2754-570A-47C344FC69A4}"/>
              </a:ext>
            </a:extLst>
          </p:cNvPr>
          <p:cNvSpPr txBox="1"/>
          <p:nvPr/>
        </p:nvSpPr>
        <p:spPr>
          <a:xfrm>
            <a:off x="1671771" y="1111762"/>
            <a:ext cx="9152164" cy="7864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ja-JP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altLang="ja-JP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ja-JP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altLang="ja-JP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ondblclick</a:t>
            </a:r>
            <a:r>
              <a:rPr lang="en-US" altLang="ja-JP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altLang="ja-JP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('Perfect!’)”</a:t>
            </a: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800"/>
              </a:lnSpc>
            </a:pPr>
            <a:r>
              <a:rPr lang="ja-JP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   ボタン</a:t>
            </a:r>
            <a:endParaRPr lang="en-US" altLang="ja-JP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ja-JP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ja-JP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74B0FA-CBA3-00D2-DE43-A3EDF14631D0}"/>
              </a:ext>
            </a:extLst>
          </p:cNvPr>
          <p:cNvSpPr txBox="1"/>
          <p:nvPr/>
        </p:nvSpPr>
        <p:spPr>
          <a:xfrm>
            <a:off x="2385064" y="2424667"/>
            <a:ext cx="65293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0" dirty="0">
                <a:effectLst/>
                <a:latin typeface="Consolas" panose="020B0609020204030204" pitchFamily="49" charset="0"/>
              </a:rPr>
              <a:t>ボタンをダブルクリックすると</a:t>
            </a:r>
            <a:endParaRPr lang="en-US" altLang="ja-JP" b="0" dirty="0">
              <a:effectLst/>
              <a:latin typeface="Consolas" panose="020B0609020204030204" pitchFamily="49" charset="0"/>
            </a:endParaRPr>
          </a:p>
          <a:p>
            <a:r>
              <a:rPr lang="ja-JP" altLang="en-US" dirty="0">
                <a:latin typeface="Consolas" panose="020B0609020204030204" pitchFamily="49" charset="0"/>
              </a:rPr>
              <a:t>「</a:t>
            </a:r>
            <a:r>
              <a:rPr lang="en-US" altLang="ja-JP" b="0" dirty="0">
                <a:effectLst/>
                <a:latin typeface="Consolas" panose="020B0609020204030204" pitchFamily="49" charset="0"/>
              </a:rPr>
              <a:t>Window</a:t>
            </a:r>
            <a:r>
              <a:rPr lang="ja-JP" altLang="en-US" b="0" dirty="0">
                <a:effectLst/>
                <a:latin typeface="Consolas" panose="020B0609020204030204" pitchFamily="49" charset="0"/>
              </a:rPr>
              <a:t>」オブジェクトの</a:t>
            </a:r>
            <a:endParaRPr lang="en-US" altLang="ja-JP" b="0" dirty="0">
              <a:effectLst/>
              <a:latin typeface="Consolas" panose="020B0609020204030204" pitchFamily="49" charset="0"/>
            </a:endParaRPr>
          </a:p>
          <a:p>
            <a:r>
              <a:rPr lang="ja-JP" altLang="en-US" b="0" dirty="0">
                <a:effectLst/>
                <a:latin typeface="Consolas" panose="020B0609020204030204" pitchFamily="49" charset="0"/>
              </a:rPr>
              <a:t>「</a:t>
            </a:r>
            <a:r>
              <a:rPr lang="en-US" altLang="ja-JP" b="0" dirty="0">
                <a:effectLst/>
                <a:latin typeface="Consolas" panose="020B0609020204030204" pitchFamily="49" charset="0"/>
              </a:rPr>
              <a:t>alert()</a:t>
            </a:r>
            <a:r>
              <a:rPr lang="ja-JP" altLang="en-US" b="0" dirty="0">
                <a:effectLst/>
                <a:latin typeface="Consolas" panose="020B0609020204030204" pitchFamily="49" charset="0"/>
              </a:rPr>
              <a:t>」メソッドが呼</a:t>
            </a:r>
            <a:r>
              <a:rPr lang="en-US" altLang="ja-JP" b="0" dirty="0">
                <a:effectLst/>
                <a:latin typeface="Consolas" panose="020B0609020204030204" pitchFamily="49" charset="0"/>
              </a:rPr>
              <a:t>(</a:t>
            </a:r>
            <a:r>
              <a:rPr lang="ja-JP" altLang="en-US" b="0" dirty="0">
                <a:effectLst/>
                <a:latin typeface="Consolas" panose="020B0609020204030204" pitchFamily="49" charset="0"/>
              </a:rPr>
              <a:t>よ</a:t>
            </a:r>
            <a:r>
              <a:rPr lang="en-US" altLang="ja-JP" b="0" dirty="0">
                <a:effectLst/>
                <a:latin typeface="Consolas" panose="020B0609020204030204" pitchFamily="49" charset="0"/>
              </a:rPr>
              <a:t>)</a:t>
            </a:r>
            <a:r>
              <a:rPr lang="ja-JP" altLang="en-US" b="0" dirty="0">
                <a:effectLst/>
                <a:latin typeface="Consolas" panose="020B0609020204030204" pitchFamily="49" charset="0"/>
              </a:rPr>
              <a:t>び出</a:t>
            </a:r>
            <a:r>
              <a:rPr lang="en-US" altLang="ja-JP" b="0" dirty="0">
                <a:effectLst/>
                <a:latin typeface="Consolas" panose="020B0609020204030204" pitchFamily="49" charset="0"/>
              </a:rPr>
              <a:t>(</a:t>
            </a:r>
            <a:r>
              <a:rPr lang="ja-JP" altLang="en-US" b="0" dirty="0">
                <a:effectLst/>
                <a:latin typeface="Consolas" panose="020B0609020204030204" pitchFamily="49" charset="0"/>
              </a:rPr>
              <a:t>だ</a:t>
            </a:r>
            <a:r>
              <a:rPr lang="en-US" altLang="ja-JP" b="0" dirty="0">
                <a:effectLst/>
                <a:latin typeface="Consolas" panose="020B0609020204030204" pitchFamily="49" charset="0"/>
              </a:rPr>
              <a:t>)</a:t>
            </a:r>
            <a:r>
              <a:rPr lang="ja-JP" altLang="en-US" b="0" dirty="0">
                <a:effectLst/>
                <a:latin typeface="Consolas" panose="020B0609020204030204" pitchFamily="49" charset="0"/>
              </a:rPr>
              <a:t>されて</a:t>
            </a:r>
            <a:endParaRPr lang="en-US" altLang="ja-JP" b="0" dirty="0">
              <a:effectLst/>
              <a:latin typeface="Consolas" panose="020B0609020204030204" pitchFamily="49" charset="0"/>
            </a:endParaRPr>
          </a:p>
          <a:p>
            <a:r>
              <a:rPr lang="ja-JP" alt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「</a:t>
            </a:r>
            <a:r>
              <a:rPr lang="en-US" altLang="ja-JP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Perfect!</a:t>
            </a:r>
            <a:r>
              <a:rPr lang="ja-JP" alt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」</a:t>
            </a:r>
            <a:r>
              <a:rPr lang="ja-JP" altLang="en-US" dirty="0">
                <a:latin typeface="Consolas" panose="020B0609020204030204" pitchFamily="49" charset="0"/>
              </a:rPr>
              <a:t>というポップアップが表示</a:t>
            </a:r>
            <a:r>
              <a:rPr lang="en-US" altLang="ja-JP" dirty="0">
                <a:latin typeface="Consolas" panose="020B0609020204030204" pitchFamily="49" charset="0"/>
              </a:rPr>
              <a:t>(</a:t>
            </a:r>
            <a:r>
              <a:rPr lang="ja-JP" altLang="en-US" dirty="0">
                <a:latin typeface="Consolas" panose="020B0609020204030204" pitchFamily="49" charset="0"/>
              </a:rPr>
              <a:t>ひょうじ</a:t>
            </a:r>
            <a:r>
              <a:rPr lang="en-US" altLang="ja-JP" dirty="0">
                <a:latin typeface="Consolas" panose="020B0609020204030204" pitchFamily="49" charset="0"/>
              </a:rPr>
              <a:t>)</a:t>
            </a:r>
            <a:r>
              <a:rPr lang="ja-JP" altLang="en-US" dirty="0">
                <a:latin typeface="Consolas" panose="020B0609020204030204" pitchFamily="49" charset="0"/>
              </a:rPr>
              <a:t>されます</a:t>
            </a:r>
            <a:endParaRPr lang="en-US" altLang="ja-JP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B7973FBD-F6D2-7718-53FF-F672C0BEAB9D}"/>
              </a:ext>
            </a:extLst>
          </p:cNvPr>
          <p:cNvSpPr/>
          <p:nvPr/>
        </p:nvSpPr>
        <p:spPr>
          <a:xfrm>
            <a:off x="5564940" y="4595056"/>
            <a:ext cx="531060" cy="317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A8A078A-426B-48DC-86C5-C9E5DF60F3AD}"/>
              </a:ext>
            </a:extLst>
          </p:cNvPr>
          <p:cNvSpPr txBox="1"/>
          <p:nvPr/>
        </p:nvSpPr>
        <p:spPr>
          <a:xfrm>
            <a:off x="771524" y="38612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JavaScript</a:t>
            </a:r>
            <a:r>
              <a:rPr kumimoji="1" lang="ja-JP" altLang="en-US" b="1" dirty="0"/>
              <a:t>の例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87B249F-1DC8-1429-4E6C-E01E41B1D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377" y="4151405"/>
            <a:ext cx="4260273" cy="112727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26713BD-49DB-F8B7-DF33-BE3624AA3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853" y="4086829"/>
            <a:ext cx="4210638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03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599</Words>
  <Application>Microsoft Office PowerPoint</Application>
  <PresentationFormat>ワイド画面</PresentationFormat>
  <Paragraphs>102</Paragraphs>
  <Slides>13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游ゴシック</vt:lpstr>
      <vt:lpstr>游ゴシック Light</vt:lpstr>
      <vt:lpstr>ADLaM Display</vt:lpstr>
      <vt:lpstr>Arial</vt:lpstr>
      <vt:lpstr>Consolas</vt:lpstr>
      <vt:lpstr>Office テーマ</vt:lpstr>
      <vt:lpstr>メソッドとプロパティ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2</cp:revision>
  <dcterms:created xsi:type="dcterms:W3CDTF">2026-05-19T03:18:53Z</dcterms:created>
  <dcterms:modified xsi:type="dcterms:W3CDTF">2026-05-20T00:02:36Z</dcterms:modified>
</cp:coreProperties>
</file>