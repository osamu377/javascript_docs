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2" r:id="rId5"/>
    <p:sldId id="263" r:id="rId6"/>
    <p:sldId id="264" r:id="rId7"/>
    <p:sldId id="267" r:id="rId8"/>
    <p:sldId id="265" r:id="rId9"/>
    <p:sldId id="266" r:id="rId10"/>
    <p:sldId id="268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AF82D-EEFA-463F-A03B-7BDA009393E1}" v="3" dt="2026-05-19T15:24:23.6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ECDAF82D-EEFA-463F-A03B-7BDA009393E1}"/>
    <pc:docChg chg="custSel addSld modSld sldOrd">
      <pc:chgData name="越智 統" userId="2de33d77-a65a-42d1-92e2-b40da65bb07e" providerId="ADAL" clId="{ECDAF82D-EEFA-463F-A03B-7BDA009393E1}" dt="2026-05-19T15:24:36.993" v="347" actId="20577"/>
      <pc:docMkLst>
        <pc:docMk/>
      </pc:docMkLst>
      <pc:sldChg chg="addSp modSp mod">
        <pc:chgData name="越智 統" userId="2de33d77-a65a-42d1-92e2-b40da65bb07e" providerId="ADAL" clId="{ECDAF82D-EEFA-463F-A03B-7BDA009393E1}" dt="2026-05-19T15:23:27.394" v="291" actId="20577"/>
        <pc:sldMkLst>
          <pc:docMk/>
          <pc:sldMk cId="3103575519" sldId="258"/>
        </pc:sldMkLst>
        <pc:spChg chg="add mod">
          <ac:chgData name="越智 統" userId="2de33d77-a65a-42d1-92e2-b40da65bb07e" providerId="ADAL" clId="{ECDAF82D-EEFA-463F-A03B-7BDA009393E1}" dt="2026-05-19T15:23:27.394" v="291" actId="20577"/>
          <ac:spMkLst>
            <pc:docMk/>
            <pc:sldMk cId="3103575519" sldId="258"/>
            <ac:spMk id="4" creationId="{6E26B592-2BB2-164D-CEE0-4B3DE6940966}"/>
          </ac:spMkLst>
        </pc:spChg>
      </pc:sldChg>
      <pc:sldChg chg="addSp modSp mod">
        <pc:chgData name="越智 統" userId="2de33d77-a65a-42d1-92e2-b40da65bb07e" providerId="ADAL" clId="{ECDAF82D-EEFA-463F-A03B-7BDA009393E1}" dt="2026-05-19T15:24:13.317" v="331" actId="113"/>
        <pc:sldMkLst>
          <pc:docMk/>
          <pc:sldMk cId="1130678363" sldId="261"/>
        </pc:sldMkLst>
        <pc:spChg chg="add mod">
          <ac:chgData name="越智 統" userId="2de33d77-a65a-42d1-92e2-b40da65bb07e" providerId="ADAL" clId="{ECDAF82D-EEFA-463F-A03B-7BDA009393E1}" dt="2026-05-19T15:24:13.317" v="331" actId="113"/>
          <ac:spMkLst>
            <pc:docMk/>
            <pc:sldMk cId="1130678363" sldId="261"/>
            <ac:spMk id="5" creationId="{6399F086-0920-CF29-3FAA-14419D0E6637}"/>
          </ac:spMkLst>
        </pc:spChg>
      </pc:sldChg>
      <pc:sldChg chg="addSp modSp mod">
        <pc:chgData name="越智 統" userId="2de33d77-a65a-42d1-92e2-b40da65bb07e" providerId="ADAL" clId="{ECDAF82D-EEFA-463F-A03B-7BDA009393E1}" dt="2026-05-19T15:24:36.993" v="347" actId="20577"/>
        <pc:sldMkLst>
          <pc:docMk/>
          <pc:sldMk cId="337437727" sldId="262"/>
        </pc:sldMkLst>
        <pc:spChg chg="add mod">
          <ac:chgData name="越智 統" userId="2de33d77-a65a-42d1-92e2-b40da65bb07e" providerId="ADAL" clId="{ECDAF82D-EEFA-463F-A03B-7BDA009393E1}" dt="2026-05-19T15:24:36.993" v="347" actId="20577"/>
          <ac:spMkLst>
            <pc:docMk/>
            <pc:sldMk cId="337437727" sldId="262"/>
            <ac:spMk id="2" creationId="{C82932B8-6BE4-8004-E142-2B65B9E72EB8}"/>
          </ac:spMkLst>
        </pc:spChg>
      </pc:sldChg>
      <pc:sldChg chg="addSp delSp modSp add mod ord">
        <pc:chgData name="越智 統" userId="2de33d77-a65a-42d1-92e2-b40da65bb07e" providerId="ADAL" clId="{ECDAF82D-EEFA-463F-A03B-7BDA009393E1}" dt="2026-05-19T15:21:54.460" v="190" actId="1076"/>
        <pc:sldMkLst>
          <pc:docMk/>
          <pc:sldMk cId="4178703371" sldId="268"/>
        </pc:sldMkLst>
        <pc:spChg chg="mod">
          <ac:chgData name="越智 統" userId="2de33d77-a65a-42d1-92e2-b40da65bb07e" providerId="ADAL" clId="{ECDAF82D-EEFA-463F-A03B-7BDA009393E1}" dt="2026-05-19T15:17:29.761" v="11" actId="20577"/>
          <ac:spMkLst>
            <pc:docMk/>
            <pc:sldMk cId="4178703371" sldId="268"/>
            <ac:spMk id="3" creationId="{A530B350-C833-2754-570A-47C344FC69A4}"/>
          </ac:spMkLst>
        </pc:spChg>
        <pc:spChg chg="mod">
          <ac:chgData name="越智 統" userId="2de33d77-a65a-42d1-92e2-b40da65bb07e" providerId="ADAL" clId="{ECDAF82D-EEFA-463F-A03B-7BDA009393E1}" dt="2026-05-19T15:21:54.460" v="190" actId="1076"/>
          <ac:spMkLst>
            <pc:docMk/>
            <pc:sldMk cId="4178703371" sldId="268"/>
            <ac:spMk id="4" creationId="{DF74B0FA-CBA3-00D2-DE43-A3EDF14631D0}"/>
          </ac:spMkLst>
        </pc:spChg>
        <pc:picChg chg="add mod">
          <ac:chgData name="越智 統" userId="2de33d77-a65a-42d1-92e2-b40da65bb07e" providerId="ADAL" clId="{ECDAF82D-EEFA-463F-A03B-7BDA009393E1}" dt="2026-05-19T15:18:56.499" v="88" actId="1076"/>
          <ac:picMkLst>
            <pc:docMk/>
            <pc:sldMk cId="4178703371" sldId="268"/>
            <ac:picMk id="5" creationId="{287B249F-1DC8-1429-4E6C-E01E41B1DC8A}"/>
          </ac:picMkLst>
        </pc:picChg>
        <pc:picChg chg="del">
          <ac:chgData name="越智 統" userId="2de33d77-a65a-42d1-92e2-b40da65bb07e" providerId="ADAL" clId="{ECDAF82D-EEFA-463F-A03B-7BDA009393E1}" dt="2026-05-19T15:18:26.166" v="82" actId="478"/>
          <ac:picMkLst>
            <pc:docMk/>
            <pc:sldMk cId="4178703371" sldId="268"/>
            <ac:picMk id="6" creationId="{56EA9439-819C-1154-EB06-F03F7D74411A}"/>
          </ac:picMkLst>
        </pc:picChg>
        <pc:picChg chg="add del mod">
          <ac:chgData name="越智 統" userId="2de33d77-a65a-42d1-92e2-b40da65bb07e" providerId="ADAL" clId="{ECDAF82D-EEFA-463F-A03B-7BDA009393E1}" dt="2026-05-19T15:19:31.660" v="91" actId="478"/>
          <ac:picMkLst>
            <pc:docMk/>
            <pc:sldMk cId="4178703371" sldId="268"/>
            <ac:picMk id="8" creationId="{132ACF1D-6052-6D05-A056-D1275D6F3308}"/>
          </ac:picMkLst>
        </pc:picChg>
        <pc:picChg chg="del">
          <ac:chgData name="越智 統" userId="2de33d77-a65a-42d1-92e2-b40da65bb07e" providerId="ADAL" clId="{ECDAF82D-EEFA-463F-A03B-7BDA009393E1}" dt="2026-05-19T15:18:28.065" v="83" actId="478"/>
          <ac:picMkLst>
            <pc:docMk/>
            <pc:sldMk cId="4178703371" sldId="268"/>
            <ac:picMk id="10" creationId="{2BE55662-ED2B-953F-B05B-BE0F9F0D3D5E}"/>
          </ac:picMkLst>
        </pc:picChg>
        <pc:picChg chg="add mod">
          <ac:chgData name="越智 統" userId="2de33d77-a65a-42d1-92e2-b40da65bb07e" providerId="ADAL" clId="{ECDAF82D-EEFA-463F-A03B-7BDA009393E1}" dt="2026-05-19T15:19:43.748" v="93" actId="1076"/>
          <ac:picMkLst>
            <pc:docMk/>
            <pc:sldMk cId="4178703371" sldId="268"/>
            <ac:picMk id="13" creationId="{626713BD-49DB-F8B7-DF33-BE3624AA3BC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A798A1-C202-B98E-C9B5-3F65325F5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3C0B69-913E-DDD3-479A-5C8AB4556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636AD8-AD80-D26E-BDEA-A123AD12B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97F4137-8E3A-DB2B-5588-361AEF0CB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F980E8-C8D7-8CF6-149A-DA0DDEAE0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5235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040A3-DC75-9B8C-F821-C788ECD7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371E2A-0238-D100-7627-EEB776784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9F5C41-338B-182B-2A82-385832A08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7D92E6-60B5-47F0-0FA6-D826BB440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6760734-8323-8680-EEC4-73A30985C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947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F8385D-AE65-4A34-71A0-6D9364CCC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9E8F035-B1CF-A18E-F558-24B84AEF9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953153-7E19-8E90-35A2-4396B4F47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81D9FB1-684E-CE8B-4AA7-0919DBC6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C0290F-E93A-0FD2-6154-BCDB78DD9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14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7E8235-21E4-B9A7-D0C8-F5F968A6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6CB0EA-7572-D9DD-C30A-64C04B3A9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07855C-77D0-4AB9-2902-C0FE6F930C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E9B105-E5A3-57E2-9E80-1B51FE502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B982C7-E807-D603-9780-1EE7C0546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1C181E2-B910-7E3E-0CBB-81C5BBBDC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014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529B0D-AE00-C445-1B68-29F48C97A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B3E8985-45A0-4F2F-0936-58ED196DE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07E532F-21B8-A4B1-D024-F44B83C39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F7530C7-5389-4356-8FCE-D13345D5E1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7988DCC-D5D6-F47F-5136-67FF511968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CA87285-2DCE-A8A9-276E-D0ABE99A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476281E-57A0-2AEF-B626-A48DEF012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A379AE1-B038-ECFE-E2A2-FB291897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60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BB7746-CB9C-193E-B559-CBBB24F9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926D36B-F2AF-D37A-BFEC-D13D9EB8D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6193959-E065-63F3-1C5B-C1BC0B8F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6FA2770-FC45-A992-9468-C92FE1AED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818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502E348-3C89-7E5D-3F5F-90754AA85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8A199C5-AABB-7026-6744-0ACB2B2F4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649CC2-262E-93B4-E9BF-6CA02C03D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7689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EA483-8FD7-F7BE-81EB-D3F953D8B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9C4C53-FF2D-42C5-8F38-CBB39F534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AAC56E-D8AC-0B22-1547-7331B6D66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DA9F8-9759-97D0-5C7A-7C576A2E1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4A9FF76-DDF0-8284-012C-21D935B35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E985CE-0E98-777B-A8AB-9F89A6D2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4702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90DB27-CA4D-E746-0F73-D7613E4D7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6645E42-A50F-199C-DCBF-C192598E69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7D08782-C930-0092-E2C1-8B7E69AB18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C2DC-29E8-B60A-6CD9-A2CF5B4D0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52FCEF-ADEC-6B04-2A51-11A305587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632753-FD6D-3CFF-C12E-D6F42F7CE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0681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F67004-DBF1-14ED-CFF4-A7ADB3FC7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BFE4F6A-3324-30D3-DB96-A6F76AF6F9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187729B-428D-082B-3A87-8D33CB168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BA2E3F-B0EC-4812-8ABC-996A175D4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FB5B33-809A-C336-0ED5-EAC6D18B9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8094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7E06D55-A09F-8991-B8D3-5567FB1211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020E82D-376F-B1D1-2919-07AF47B446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004A1D-DEF6-2D6B-E75D-70B748CBE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4546145-F5B4-17B7-B702-0527327B5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A8AE19-56F2-5DF2-CA33-4C32E0C0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684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33E20AF-C07A-48F3-94CC-BFD193ED0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9DB0AE-3929-0FE6-AFC3-54312EDE23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2080A1-CB07-40C9-8013-966DB1090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A0680B-6FA7-4943-A208-41F528ABFF47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5409CC-D1F1-64A5-4EDA-00FB0A2F65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3302A1D-E0DB-AC39-B96E-0EB496280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09BE9E-E11A-4DF1-AFFE-3A3C4166E1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7237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FCB989-E8C1-12A0-DB93-834EDBA317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メソッドとプロパティ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6A236F9-BCE3-163C-D73E-21F8C9EC63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オブジェクトの中身</a:t>
            </a:r>
          </a:p>
        </p:txBody>
      </p:sp>
    </p:spTree>
    <p:extLst>
      <p:ext uri="{BB962C8B-B14F-4D97-AF65-F5344CB8AC3E}">
        <p14:creationId xmlns:p14="http://schemas.microsoft.com/office/powerpoint/2010/main" val="3556359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E308218-360A-CD4C-F26B-85B7DFAF5A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4C50F08-B692-40AC-05F4-23075A24BEE9}"/>
              </a:ext>
            </a:extLst>
          </p:cNvPr>
          <p:cNvSpPr txBox="1"/>
          <p:nvPr/>
        </p:nvSpPr>
        <p:spPr>
          <a:xfrm>
            <a:off x="532712" y="391885"/>
            <a:ext cx="47484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600" b="1" dirty="0"/>
              <a:t>I. </a:t>
            </a:r>
            <a:r>
              <a:rPr kumimoji="1" lang="ja-JP" altLang="en-US" sz="3600" b="1" dirty="0"/>
              <a:t>オブジェクトの中身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E26B592-2BB2-164D-CEE0-4B3DE6940966}"/>
              </a:ext>
            </a:extLst>
          </p:cNvPr>
          <p:cNvSpPr txBox="1"/>
          <p:nvPr/>
        </p:nvSpPr>
        <p:spPr>
          <a:xfrm>
            <a:off x="1012371" y="1796143"/>
            <a:ext cx="26725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オブジェクトを</a:t>
            </a:r>
            <a:endParaRPr kumimoji="1" lang="en-US" altLang="ja-JP" dirty="0"/>
          </a:p>
          <a:p>
            <a:r>
              <a:rPr kumimoji="1" lang="ja-JP" altLang="en-US" dirty="0"/>
              <a:t>作業員</a:t>
            </a:r>
            <a:r>
              <a:rPr kumimoji="1" lang="en-US" altLang="ja-JP" dirty="0"/>
              <a:t>(</a:t>
            </a:r>
            <a:r>
              <a:rPr kumimoji="1" lang="ja-JP" altLang="en-US" dirty="0"/>
              <a:t>さぎょういん</a:t>
            </a:r>
            <a:r>
              <a:rPr kumimoji="1" lang="en-US" altLang="ja-JP" dirty="0"/>
              <a:t>)</a:t>
            </a:r>
            <a:r>
              <a:rPr kumimoji="1" lang="ja-JP" altLang="en-US" dirty="0"/>
              <a:t>に</a:t>
            </a:r>
            <a:endParaRPr kumimoji="1" lang="en-US" altLang="ja-JP" dirty="0"/>
          </a:p>
          <a:p>
            <a:r>
              <a:rPr lang="ja-JP" altLang="en-US" dirty="0"/>
              <a:t>たとえて、</a:t>
            </a:r>
            <a:endParaRPr lang="en-US" altLang="ja-JP" dirty="0"/>
          </a:p>
          <a:p>
            <a:r>
              <a:rPr lang="ja-JP" altLang="en-US" dirty="0"/>
              <a:t>説明</a:t>
            </a:r>
            <a:r>
              <a:rPr lang="en-US" altLang="ja-JP" dirty="0"/>
              <a:t>(</a:t>
            </a:r>
            <a:r>
              <a:rPr lang="ja-JP" altLang="en-US" dirty="0"/>
              <a:t>せつめい</a:t>
            </a:r>
            <a:r>
              <a:rPr lang="en-US" altLang="ja-JP" dirty="0"/>
              <a:t>)</a:t>
            </a:r>
            <a:r>
              <a:rPr lang="ja-JP" altLang="en-US" dirty="0"/>
              <a:t>します。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03575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3D2A-FC9B-F065-0A52-D72263BD5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106BE13-E0BC-0660-54CE-F5C74138FC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69A9C462-B9D4-4FD3-A117-6717784BC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664467"/>
              </p:ext>
            </p:extLst>
          </p:nvPr>
        </p:nvGraphicFramePr>
        <p:xfrm>
          <a:off x="7805057" y="728334"/>
          <a:ext cx="3992335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335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プロパティとは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オブジェクトの様子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ようす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オブジェクトの持ち物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もちもの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marL="0" indent="0" algn="r">
                        <a:buFontTx/>
                        <a:buNone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など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r>
                        <a:rPr kumimoji="1" lang="ja-JP" altLang="en-US" sz="1400" dirty="0"/>
                        <a:t>着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き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ている服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ふく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の色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いろ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：青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あお</a:t>
                      </a:r>
                      <a:r>
                        <a:rPr kumimoji="1" lang="en-US" altLang="ja-JP" sz="1400" dirty="0"/>
                        <a:t>)</a:t>
                      </a:r>
                    </a:p>
                    <a:p>
                      <a:r>
                        <a:rPr kumimoji="1" lang="ja-JP" altLang="en-US" sz="1400" dirty="0"/>
                        <a:t>履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は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いている靴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くつ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の色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いろ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：ベージュ</a:t>
                      </a:r>
                      <a:endParaRPr kumimoji="1" lang="en-US" altLang="ja-JP" sz="1400" dirty="0"/>
                    </a:p>
                    <a:p>
                      <a:r>
                        <a:rPr kumimoji="1" lang="ja-JP" altLang="en-US" sz="1400" dirty="0"/>
                        <a:t>髪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かみ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：ショートヘア</a:t>
                      </a:r>
                      <a:endParaRPr kumimoji="1" lang="en-US" altLang="ja-JP" sz="1400" dirty="0"/>
                    </a:p>
                    <a:p>
                      <a:r>
                        <a:rPr kumimoji="1" lang="ja-JP" altLang="en-US" sz="1400" dirty="0"/>
                        <a:t>カバンの種類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しゅるい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：ショルダーバッグ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99F086-0920-CF29-3FAA-14419D0E6637}"/>
              </a:ext>
            </a:extLst>
          </p:cNvPr>
          <p:cNvSpPr txBox="1"/>
          <p:nvPr/>
        </p:nvSpPr>
        <p:spPr>
          <a:xfrm>
            <a:off x="624513" y="1779814"/>
            <a:ext cx="3185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オブジェクトには</a:t>
            </a:r>
            <a:endParaRPr kumimoji="1" lang="en-US" altLang="ja-JP" dirty="0"/>
          </a:p>
          <a:p>
            <a:r>
              <a:rPr lang="ja-JP" altLang="en-US" dirty="0"/>
              <a:t>「</a:t>
            </a:r>
            <a:r>
              <a:rPr lang="ja-JP" altLang="en-US" b="1" dirty="0"/>
              <a:t>プロパティ</a:t>
            </a:r>
            <a:r>
              <a:rPr lang="ja-JP" altLang="en-US" dirty="0"/>
              <a:t>」があります。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130678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2C269-ADC0-F1F5-1338-EF202BF6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006B345-B603-F007-B086-47E5E730F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7B65E381-4BA8-D689-68F4-77C49A967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129129"/>
              </p:ext>
            </p:extLst>
          </p:nvPr>
        </p:nvGraphicFramePr>
        <p:xfrm>
          <a:off x="394609" y="728334"/>
          <a:ext cx="3542910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2910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メソッドとは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オブジェクトの動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うご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)</a:t>
                      </a: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き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/>
                        <a:t>機械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きかい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を修理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しゅうり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する</a:t>
                      </a:r>
                      <a:endParaRPr kumimoji="1" lang="en-US" altLang="ja-JP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/>
                        <a:t>カバンからものを出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だ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す</a:t>
                      </a:r>
                      <a:endParaRPr kumimoji="1" lang="en-US" altLang="ja-JP" sz="14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/>
                        <a:t>カバンにものを入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い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れる</a:t>
                      </a:r>
                      <a:endParaRPr kumimoji="1" lang="en-US" altLang="ja-JP" sz="1400" dirty="0"/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/>
                        <a:t>など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6F17C8D-24A8-09FC-4F66-1F721C186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885368"/>
              </p:ext>
            </p:extLst>
          </p:nvPr>
        </p:nvGraphicFramePr>
        <p:xfrm>
          <a:off x="7805057" y="728334"/>
          <a:ext cx="3992335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335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プロパティとは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オブジェクトの様子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ようす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オブジェクトの持ち物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(</a:t>
                      </a: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もちもの</a:t>
                      </a:r>
                      <a:r>
                        <a:rPr kumimoji="1" lang="en-US" altLang="ja-JP" sz="1400" dirty="0">
                          <a:latin typeface="+mj-ea"/>
                          <a:ea typeface="+mj-ea"/>
                        </a:rPr>
                        <a:t>)</a:t>
                      </a:r>
                    </a:p>
                    <a:p>
                      <a:pPr marL="0" indent="0" algn="r">
                        <a:buFontTx/>
                        <a:buNone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など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r>
                        <a:rPr kumimoji="1" lang="ja-JP" altLang="en-US" sz="1400" dirty="0"/>
                        <a:t>着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き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ている服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ふく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の色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いろ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：青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あお</a:t>
                      </a:r>
                      <a:r>
                        <a:rPr kumimoji="1" lang="en-US" altLang="ja-JP" sz="1400" dirty="0"/>
                        <a:t>)</a:t>
                      </a:r>
                    </a:p>
                    <a:p>
                      <a:r>
                        <a:rPr kumimoji="1" lang="ja-JP" altLang="en-US" sz="1400" dirty="0"/>
                        <a:t>履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は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いている靴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くつ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の色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いろ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：ベージュ</a:t>
                      </a:r>
                      <a:endParaRPr kumimoji="1" lang="en-US" altLang="ja-JP" sz="1400" dirty="0"/>
                    </a:p>
                    <a:p>
                      <a:r>
                        <a:rPr kumimoji="1" lang="ja-JP" altLang="en-US" sz="1400" dirty="0"/>
                        <a:t>髪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かみ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：ショートヘア</a:t>
                      </a:r>
                      <a:endParaRPr kumimoji="1" lang="en-US" altLang="ja-JP" sz="1400" dirty="0"/>
                    </a:p>
                    <a:p>
                      <a:r>
                        <a:rPr kumimoji="1" lang="ja-JP" altLang="en-US" sz="1400" dirty="0"/>
                        <a:t>カバンの種類</a:t>
                      </a:r>
                      <a:r>
                        <a:rPr kumimoji="1" lang="en-US" altLang="ja-JP" sz="1400" dirty="0"/>
                        <a:t>(</a:t>
                      </a:r>
                      <a:r>
                        <a:rPr kumimoji="1" lang="ja-JP" altLang="en-US" sz="1400" dirty="0"/>
                        <a:t>しゅるい</a:t>
                      </a:r>
                      <a:r>
                        <a:rPr kumimoji="1" lang="en-US" altLang="ja-JP" sz="1400" dirty="0"/>
                        <a:t>)</a:t>
                      </a:r>
                      <a:r>
                        <a:rPr kumimoji="1" lang="ja-JP" altLang="en-US" sz="1400" dirty="0"/>
                        <a:t>：ショルダーバッグ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82932B8-6BE4-8004-E142-2B65B9E72EB8}"/>
              </a:ext>
            </a:extLst>
          </p:cNvPr>
          <p:cNvSpPr txBox="1"/>
          <p:nvPr/>
        </p:nvSpPr>
        <p:spPr>
          <a:xfrm>
            <a:off x="752032" y="4898571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オブジェクトには</a:t>
            </a:r>
            <a:endParaRPr kumimoji="1" lang="en-US" altLang="ja-JP" dirty="0"/>
          </a:p>
          <a:p>
            <a:r>
              <a:rPr lang="ja-JP" altLang="en-US" dirty="0"/>
              <a:t>「</a:t>
            </a:r>
            <a:r>
              <a:rPr lang="ja-JP" altLang="en-US" b="1" dirty="0"/>
              <a:t>メソッド</a:t>
            </a:r>
            <a:r>
              <a:rPr lang="ja-JP" altLang="en-US" dirty="0"/>
              <a:t>」があります。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7437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7A195F-31E9-C27C-4A37-06507BF1BD8D}"/>
              </a:ext>
            </a:extLst>
          </p:cNvPr>
          <p:cNvSpPr txBox="1"/>
          <p:nvPr/>
        </p:nvSpPr>
        <p:spPr>
          <a:xfrm>
            <a:off x="1053848" y="2802757"/>
            <a:ext cx="1041984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/>
              <a:t>【</a:t>
            </a:r>
            <a:r>
              <a:rPr kumimoji="1" lang="ja-JP" altLang="en-US" sz="4000" dirty="0"/>
              <a:t>たとえ</a:t>
            </a:r>
            <a:r>
              <a:rPr kumimoji="1" lang="en-US" altLang="ja-JP" sz="4000" dirty="0"/>
              <a:t>】</a:t>
            </a:r>
          </a:p>
          <a:p>
            <a:r>
              <a:rPr kumimoji="1" lang="ja-JP" altLang="en-US" sz="4000" dirty="0"/>
              <a:t>着</a:t>
            </a:r>
            <a:r>
              <a:rPr kumimoji="1" lang="en-US" altLang="ja-JP" sz="4000" dirty="0"/>
              <a:t>(</a:t>
            </a:r>
            <a:r>
              <a:rPr kumimoji="1" lang="ja-JP" altLang="en-US" sz="4000" dirty="0"/>
              <a:t>き</a:t>
            </a:r>
            <a:r>
              <a:rPr kumimoji="1" lang="en-US" altLang="ja-JP" sz="4000" dirty="0"/>
              <a:t>)</a:t>
            </a:r>
            <a:r>
              <a:rPr kumimoji="1" lang="ja-JP" altLang="en-US" sz="4000" dirty="0"/>
              <a:t>ている服</a:t>
            </a:r>
            <a:r>
              <a:rPr kumimoji="1" lang="en-US" altLang="ja-JP" sz="4000" dirty="0"/>
              <a:t>(</a:t>
            </a:r>
            <a:r>
              <a:rPr kumimoji="1" lang="ja-JP" altLang="en-US" sz="4000" dirty="0"/>
              <a:t>ふく</a:t>
            </a:r>
            <a:r>
              <a:rPr kumimoji="1" lang="en-US" altLang="ja-JP" sz="4000" dirty="0"/>
              <a:t>)</a:t>
            </a:r>
            <a:r>
              <a:rPr kumimoji="1" lang="ja-JP" altLang="en-US" sz="4000" dirty="0"/>
              <a:t>の色</a:t>
            </a:r>
            <a:r>
              <a:rPr kumimoji="1" lang="en-US" altLang="ja-JP" sz="4000" dirty="0"/>
              <a:t>(</a:t>
            </a:r>
            <a:r>
              <a:rPr kumimoji="1" lang="ja-JP" altLang="en-US" sz="4000" dirty="0"/>
              <a:t>いろ</a:t>
            </a:r>
            <a:r>
              <a:rPr kumimoji="1" lang="en-US" altLang="ja-JP" sz="4000" dirty="0"/>
              <a:t>)</a:t>
            </a:r>
            <a:r>
              <a:rPr kumimoji="1" lang="ja-JP" altLang="en-US" sz="4000" dirty="0"/>
              <a:t> ←  </a:t>
            </a:r>
            <a:r>
              <a:rPr lang="ja-JP" altLang="en-US" sz="4000" dirty="0">
                <a:solidFill>
                  <a:srgbClr val="FF0000"/>
                </a:solidFill>
              </a:rPr>
              <a:t>赤</a:t>
            </a:r>
            <a:r>
              <a:rPr lang="en-US" altLang="ja-JP" sz="4000" dirty="0">
                <a:solidFill>
                  <a:srgbClr val="FF0000"/>
                </a:solidFill>
              </a:rPr>
              <a:t>(</a:t>
            </a:r>
            <a:r>
              <a:rPr lang="ja-JP" altLang="en-US" sz="4000" dirty="0">
                <a:solidFill>
                  <a:srgbClr val="FF0000"/>
                </a:solidFill>
              </a:rPr>
              <a:t>あか</a:t>
            </a:r>
            <a:r>
              <a:rPr lang="en-US" altLang="ja-JP" sz="4000" dirty="0">
                <a:solidFill>
                  <a:srgbClr val="FF0000"/>
                </a:solidFill>
              </a:rPr>
              <a:t>)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85D2DA-2668-1EE3-3A66-354BD44F32C6}"/>
              </a:ext>
            </a:extLst>
          </p:cNvPr>
          <p:cNvSpPr txBox="1"/>
          <p:nvPr/>
        </p:nvSpPr>
        <p:spPr>
          <a:xfrm>
            <a:off x="532712" y="391885"/>
            <a:ext cx="57310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600" b="1" dirty="0"/>
              <a:t>II. </a:t>
            </a:r>
            <a:r>
              <a:rPr kumimoji="1" lang="ja-JP" altLang="en-US" sz="3600" b="1" dirty="0"/>
              <a:t>プロパティを変</a:t>
            </a:r>
            <a:r>
              <a:rPr kumimoji="1" lang="en-US" altLang="ja-JP" sz="3600" b="1" dirty="0"/>
              <a:t>(</a:t>
            </a:r>
            <a:r>
              <a:rPr kumimoji="1" lang="ja-JP" altLang="en-US" sz="3600" b="1" dirty="0"/>
              <a:t>か</a:t>
            </a:r>
            <a:r>
              <a:rPr kumimoji="1" lang="en-US" altLang="ja-JP" sz="3600" b="1" dirty="0"/>
              <a:t>)</a:t>
            </a:r>
            <a:r>
              <a:rPr kumimoji="1" lang="ja-JP" altLang="en-US" sz="3600" b="1" dirty="0"/>
              <a:t>える</a:t>
            </a:r>
          </a:p>
        </p:txBody>
      </p:sp>
    </p:spTree>
    <p:extLst>
      <p:ext uri="{BB962C8B-B14F-4D97-AF65-F5344CB8AC3E}">
        <p14:creationId xmlns:p14="http://schemas.microsoft.com/office/powerpoint/2010/main" val="1654937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5C6FD-829A-16CF-56D7-7EDBD60FD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挿絵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A5C0DA2-7F66-013D-6D1A-BF04FA2FC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C21EA6CD-DA7D-0CDE-41EA-9EE588A1A6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118337"/>
              </p:ext>
            </p:extLst>
          </p:nvPr>
        </p:nvGraphicFramePr>
        <p:xfrm>
          <a:off x="7805057" y="728334"/>
          <a:ext cx="3992335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335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プロパティ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オブジェクトの様子</a:t>
                      </a:r>
                      <a:endParaRPr kumimoji="1" lang="en-US" altLang="ja-JP" sz="1400" dirty="0">
                        <a:latin typeface="+mj-ea"/>
                        <a:ea typeface="+mj-ea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オブジェクトの持ち物</a:t>
                      </a:r>
                      <a:endParaRPr kumimoji="1" lang="en-US" altLang="ja-JP" sz="1400" dirty="0">
                        <a:latin typeface="+mj-ea"/>
                        <a:ea typeface="+mj-ea"/>
                      </a:endParaRPr>
                    </a:p>
                    <a:p>
                      <a:pPr marL="0" indent="0" algn="r">
                        <a:buFontTx/>
                        <a:buNone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など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着ている服の色：</a:t>
                      </a:r>
                      <a:r>
                        <a:rPr kumimoji="1" lang="ja-JP" altLang="en-US" b="1" dirty="0">
                          <a:solidFill>
                            <a:srgbClr val="FF0000"/>
                          </a:solidFill>
                        </a:rPr>
                        <a:t>赤</a:t>
                      </a:r>
                      <a:endParaRPr kumimoji="1" lang="en-US" altLang="ja-JP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kumimoji="1" lang="ja-JP" altLang="en-US" dirty="0"/>
                        <a:t>履いている靴の色：ベージュ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髪：ショートヘア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カバンの種類：ショルダーバッグ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1616CE1A-77D3-EE87-A946-C5100DD376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0848658"/>
              </p:ext>
            </p:extLst>
          </p:nvPr>
        </p:nvGraphicFramePr>
        <p:xfrm>
          <a:off x="801615" y="728334"/>
          <a:ext cx="3009783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9783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メソッド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機械の修理をする</a:t>
                      </a:r>
                      <a:endParaRPr kumimoji="1" lang="en-US" altLang="ja-JP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カバンから中身を出す</a:t>
                      </a:r>
                      <a:endParaRPr kumimoji="1" lang="en-US" altLang="ja-JP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カバンにものを入れる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3055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458772-A55E-C3DF-F650-004E6885C1AF}"/>
              </a:ext>
            </a:extLst>
          </p:cNvPr>
          <p:cNvSpPr txBox="1"/>
          <p:nvPr/>
        </p:nvSpPr>
        <p:spPr>
          <a:xfrm>
            <a:off x="1671771" y="1111762"/>
            <a:ext cx="9152164" cy="78649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ja-JP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onclick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altLang="ja-JP" b="0" dirty="0">
                <a:solidFill>
                  <a:srgbClr val="8599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'red’"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lnSpc>
                <a:spcPts val="1800"/>
              </a:lnSpc>
            </a:pPr>
            <a:r>
              <a:rPr lang="ja-JP" altLang="en-US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   文字を赤くします</a:t>
            </a:r>
            <a:endParaRPr lang="en-US" altLang="ja-JP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</a:pP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ja-JP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ja-JP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E52158-02B9-098D-1232-536FCF673AC7}"/>
              </a:ext>
            </a:extLst>
          </p:cNvPr>
          <p:cNvSpPr txBox="1"/>
          <p:nvPr/>
        </p:nvSpPr>
        <p:spPr>
          <a:xfrm>
            <a:off x="3054943" y="2254568"/>
            <a:ext cx="60821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0" dirty="0">
                <a:effectLst/>
                <a:latin typeface="Consolas" panose="020B0609020204030204" pitchFamily="49" charset="0"/>
              </a:rPr>
              <a:t>ボタンをクリックすると</a:t>
            </a:r>
            <a:endParaRPr lang="en-US" altLang="ja-JP" b="0" dirty="0">
              <a:effectLst/>
              <a:latin typeface="Consolas" panose="020B0609020204030204" pitchFamily="49" charset="0"/>
            </a:endParaRPr>
          </a:p>
          <a:p>
            <a:r>
              <a:rPr lang="ja-JP" altLang="en-US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「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ja-JP" altLang="en-US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」</a:t>
            </a:r>
            <a:endParaRPr lang="en-US" altLang="ja-JP" b="0" dirty="0">
              <a:solidFill>
                <a:srgbClr val="268BD2"/>
              </a:solidFill>
              <a:effectLst/>
              <a:latin typeface="Consolas" panose="020B0609020204030204" pitchFamily="49" charset="0"/>
            </a:endParaRPr>
          </a:p>
          <a:p>
            <a:r>
              <a:rPr kumimoji="1" lang="ja-JP" altLang="en-US" dirty="0">
                <a:latin typeface="Consolas" panose="020B0609020204030204" pitchFamily="49" charset="0"/>
              </a:rPr>
              <a:t>というプロパティを</a:t>
            </a:r>
            <a:r>
              <a:rPr kumimoji="1" lang="en-US" altLang="ja-JP" dirty="0">
                <a:latin typeface="Consolas" panose="020B0609020204030204" pitchFamily="49" charset="0"/>
              </a:rPr>
              <a:t>’red’</a:t>
            </a:r>
            <a:r>
              <a:rPr kumimoji="1" lang="ja-JP" altLang="en-US" dirty="0">
                <a:latin typeface="Consolas" panose="020B0609020204030204" pitchFamily="49" charset="0"/>
              </a:rPr>
              <a:t>に変更</a:t>
            </a:r>
            <a:r>
              <a:rPr kumimoji="1" lang="en-US" altLang="ja-JP" dirty="0">
                <a:latin typeface="Consolas" panose="020B0609020204030204" pitchFamily="49" charset="0"/>
              </a:rPr>
              <a:t>(</a:t>
            </a:r>
            <a:r>
              <a:rPr kumimoji="1" lang="ja-JP" altLang="en-US" dirty="0">
                <a:latin typeface="Consolas" panose="020B0609020204030204" pitchFamily="49" charset="0"/>
              </a:rPr>
              <a:t>へんこう</a:t>
            </a:r>
            <a:r>
              <a:rPr kumimoji="1" lang="en-US" altLang="ja-JP" dirty="0">
                <a:latin typeface="Consolas" panose="020B0609020204030204" pitchFamily="49" charset="0"/>
              </a:rPr>
              <a:t>)</a:t>
            </a:r>
            <a:r>
              <a:rPr kumimoji="1" lang="ja-JP" altLang="en-US" dirty="0">
                <a:latin typeface="Consolas" panose="020B0609020204030204" pitchFamily="49" charset="0"/>
              </a:rPr>
              <a:t> して</a:t>
            </a:r>
            <a:endParaRPr kumimoji="1" lang="en-US" altLang="ja-JP" dirty="0">
              <a:latin typeface="Consolas" panose="020B0609020204030204" pitchFamily="49" charset="0"/>
            </a:endParaRPr>
          </a:p>
          <a:p>
            <a:r>
              <a:rPr lang="ja-JP" altLang="en-US" dirty="0"/>
              <a:t>「</a:t>
            </a:r>
            <a:r>
              <a:rPr lang="en-US" altLang="ja-JP" dirty="0"/>
              <a:t>body</a:t>
            </a:r>
            <a:r>
              <a:rPr lang="ja-JP" altLang="en-US" dirty="0"/>
              <a:t>」の中</a:t>
            </a:r>
            <a:r>
              <a:rPr lang="en-US" altLang="ja-JP" dirty="0"/>
              <a:t>(</a:t>
            </a:r>
            <a:r>
              <a:rPr lang="ja-JP" altLang="en-US" dirty="0"/>
              <a:t>なか</a:t>
            </a:r>
            <a:r>
              <a:rPr lang="en-US" altLang="ja-JP" dirty="0"/>
              <a:t>)</a:t>
            </a:r>
            <a:r>
              <a:rPr lang="ja-JP" altLang="en-US" dirty="0"/>
              <a:t> の</a:t>
            </a:r>
            <a:r>
              <a:rPr kumimoji="1" lang="ja-JP" altLang="en-US" dirty="0"/>
              <a:t>文字</a:t>
            </a:r>
            <a:r>
              <a:rPr lang="en-US" altLang="ja-JP" dirty="0"/>
              <a:t>(</a:t>
            </a:r>
            <a:r>
              <a:rPr lang="ja-JP" altLang="en-US" dirty="0"/>
              <a:t>もじ</a:t>
            </a:r>
            <a:r>
              <a:rPr kumimoji="1" lang="en-US" altLang="ja-JP" dirty="0"/>
              <a:t>)</a:t>
            </a:r>
            <a:r>
              <a:rPr kumimoji="1" lang="ja-JP" altLang="en-US" dirty="0"/>
              <a:t>を赤</a:t>
            </a:r>
            <a:r>
              <a:rPr kumimoji="1" lang="en-US" altLang="ja-JP" dirty="0"/>
              <a:t>(</a:t>
            </a:r>
            <a:r>
              <a:rPr kumimoji="1" lang="ja-JP" altLang="en-US" dirty="0"/>
              <a:t>あか</a:t>
            </a:r>
            <a:r>
              <a:rPr kumimoji="1" lang="en-US" altLang="ja-JP" dirty="0"/>
              <a:t>)</a:t>
            </a:r>
            <a:r>
              <a:rPr kumimoji="1" lang="ja-JP" altLang="en-US" dirty="0"/>
              <a:t>くします。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8248525-E175-A6F2-FE19-2F9826D07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18" y="3841980"/>
            <a:ext cx="4277322" cy="2095792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C8B35828-F30F-8A83-E4DF-B7E94854F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534" y="3782750"/>
            <a:ext cx="4105848" cy="2095792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ECCCD168-F171-8B0A-55A5-00773E38266B}"/>
              </a:ext>
            </a:extLst>
          </p:cNvPr>
          <p:cNvSpPr/>
          <p:nvPr/>
        </p:nvSpPr>
        <p:spPr>
          <a:xfrm>
            <a:off x="5564940" y="4595056"/>
            <a:ext cx="531060" cy="317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5E03359-680F-287F-3949-0B20059B694B}"/>
              </a:ext>
            </a:extLst>
          </p:cNvPr>
          <p:cNvSpPr txBox="1"/>
          <p:nvPr/>
        </p:nvSpPr>
        <p:spPr>
          <a:xfrm>
            <a:off x="771524" y="3861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JavaScript</a:t>
            </a:r>
            <a:r>
              <a:rPr kumimoji="1" lang="ja-JP" altLang="en-US" b="1" dirty="0"/>
              <a:t>の例</a:t>
            </a:r>
          </a:p>
        </p:txBody>
      </p:sp>
    </p:spTree>
    <p:extLst>
      <p:ext uri="{BB962C8B-B14F-4D97-AF65-F5344CB8AC3E}">
        <p14:creationId xmlns:p14="http://schemas.microsoft.com/office/powerpoint/2010/main" val="774859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3329D-6D45-7F87-CFF4-D1227630C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B8128FC-C783-EEC2-5605-E0500C2B380F}"/>
              </a:ext>
            </a:extLst>
          </p:cNvPr>
          <p:cNvSpPr txBox="1"/>
          <p:nvPr/>
        </p:nvSpPr>
        <p:spPr>
          <a:xfrm>
            <a:off x="1279616" y="2767280"/>
            <a:ext cx="970009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dirty="0"/>
              <a:t>【</a:t>
            </a:r>
            <a:r>
              <a:rPr kumimoji="1" lang="ja-JP" altLang="en-US" sz="4000" dirty="0"/>
              <a:t>たとえ</a:t>
            </a:r>
            <a:r>
              <a:rPr kumimoji="1" lang="en-US" altLang="ja-JP" sz="4000" dirty="0"/>
              <a:t>】</a:t>
            </a:r>
          </a:p>
          <a:p>
            <a:r>
              <a:rPr kumimoji="1" lang="ja-JP" altLang="en-US" sz="4000" dirty="0"/>
              <a:t>「機械</a:t>
            </a:r>
            <a:r>
              <a:rPr kumimoji="1" lang="en-US" altLang="ja-JP" sz="4000" dirty="0"/>
              <a:t>(</a:t>
            </a:r>
            <a:r>
              <a:rPr kumimoji="1" lang="ja-JP" altLang="en-US" sz="4000" dirty="0"/>
              <a:t>きかい</a:t>
            </a:r>
            <a:r>
              <a:rPr kumimoji="1" lang="en-US" altLang="ja-JP" sz="4000" dirty="0"/>
              <a:t>)</a:t>
            </a:r>
            <a:r>
              <a:rPr lang="ja-JP" altLang="en-US" sz="4000" dirty="0"/>
              <a:t>の</a:t>
            </a:r>
            <a:r>
              <a:rPr kumimoji="1" lang="ja-JP" altLang="en-US" sz="4000" dirty="0"/>
              <a:t>修理</a:t>
            </a:r>
            <a:r>
              <a:rPr kumimoji="1" lang="en-US" altLang="ja-JP" sz="4000" dirty="0"/>
              <a:t>(</a:t>
            </a:r>
            <a:r>
              <a:rPr kumimoji="1" lang="ja-JP" altLang="en-US" sz="4000" dirty="0"/>
              <a:t>しゅうり</a:t>
            </a:r>
            <a:r>
              <a:rPr kumimoji="1" lang="en-US" altLang="ja-JP" sz="4000" dirty="0"/>
              <a:t>)</a:t>
            </a:r>
            <a:r>
              <a:rPr kumimoji="1" lang="ja-JP" altLang="en-US" sz="4000" dirty="0"/>
              <a:t>をする」</a:t>
            </a:r>
            <a:endParaRPr kumimoji="1" lang="en-US" altLang="ja-JP" sz="4000" dirty="0"/>
          </a:p>
          <a:p>
            <a:r>
              <a:rPr lang="ja-JP" altLang="en-US" sz="4000" dirty="0"/>
              <a:t>と命令</a:t>
            </a:r>
            <a:r>
              <a:rPr lang="en-US" altLang="ja-JP" sz="4000" dirty="0"/>
              <a:t>(</a:t>
            </a:r>
            <a:r>
              <a:rPr lang="ja-JP" altLang="en-US" sz="4000" dirty="0"/>
              <a:t>めいれい</a:t>
            </a:r>
            <a:r>
              <a:rPr lang="en-US" altLang="ja-JP" sz="4000" dirty="0"/>
              <a:t>)</a:t>
            </a:r>
            <a:r>
              <a:rPr lang="ja-JP" altLang="en-US" sz="4000" dirty="0"/>
              <a:t>する</a:t>
            </a:r>
            <a:endParaRPr kumimoji="1" lang="ja-JP" altLang="en-US" sz="40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3CDD36-AA72-8497-4BBD-CB9ACBBC975C}"/>
              </a:ext>
            </a:extLst>
          </p:cNvPr>
          <p:cNvSpPr txBox="1"/>
          <p:nvPr/>
        </p:nvSpPr>
        <p:spPr>
          <a:xfrm>
            <a:off x="532712" y="391885"/>
            <a:ext cx="64331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600" b="1" dirty="0"/>
              <a:t>II.</a:t>
            </a:r>
            <a:r>
              <a:rPr kumimoji="1" lang="ja-JP" altLang="en-US" sz="3600" b="1" dirty="0"/>
              <a:t>メソッドを呼</a:t>
            </a:r>
            <a:r>
              <a:rPr kumimoji="1" lang="en-US" altLang="ja-JP" sz="3600" b="1" dirty="0"/>
              <a:t>(</a:t>
            </a:r>
            <a:r>
              <a:rPr kumimoji="1" lang="ja-JP" altLang="en-US" sz="3600" b="1" dirty="0"/>
              <a:t>よ</a:t>
            </a:r>
            <a:r>
              <a:rPr kumimoji="1" lang="en-US" altLang="ja-JP" sz="3600" b="1" dirty="0"/>
              <a:t>)</a:t>
            </a:r>
            <a:r>
              <a:rPr kumimoji="1" lang="ja-JP" altLang="en-US" sz="3600" b="1" dirty="0"/>
              <a:t>び出</a:t>
            </a:r>
            <a:r>
              <a:rPr kumimoji="1" lang="en-US" altLang="ja-JP" sz="3600" b="1" dirty="0"/>
              <a:t>(</a:t>
            </a:r>
            <a:r>
              <a:rPr kumimoji="1" lang="ja-JP" altLang="en-US" sz="3600" b="1" dirty="0"/>
              <a:t>だ</a:t>
            </a:r>
            <a:r>
              <a:rPr kumimoji="1" lang="en-US" altLang="ja-JP" sz="3600" b="1" dirty="0"/>
              <a:t>)</a:t>
            </a:r>
            <a:r>
              <a:rPr kumimoji="1" lang="ja-JP" altLang="en-US" sz="3600" b="1" dirty="0"/>
              <a:t>す</a:t>
            </a:r>
          </a:p>
        </p:txBody>
      </p:sp>
    </p:spTree>
    <p:extLst>
      <p:ext uri="{BB962C8B-B14F-4D97-AF65-F5344CB8AC3E}">
        <p14:creationId xmlns:p14="http://schemas.microsoft.com/office/powerpoint/2010/main" val="4182217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F450-2D2C-D654-DC6E-77E88011A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挿絵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653FB27-E6D6-F6DA-BD8F-110223400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4F879B7A-13D3-8D7B-3605-8A908DF48E10}"/>
              </a:ext>
            </a:extLst>
          </p:cNvPr>
          <p:cNvGraphicFramePr>
            <a:graphicFrameLocks noGrp="1"/>
          </p:cNvGraphicFramePr>
          <p:nvPr/>
        </p:nvGraphicFramePr>
        <p:xfrm>
          <a:off x="7805057" y="728334"/>
          <a:ext cx="3992335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335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プロパティ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オブジェクトの様子</a:t>
                      </a:r>
                      <a:endParaRPr kumimoji="1" lang="en-US" altLang="ja-JP" sz="1400" dirty="0">
                        <a:latin typeface="+mj-ea"/>
                        <a:ea typeface="+mj-ea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オブジェクトの持ち物</a:t>
                      </a:r>
                      <a:endParaRPr kumimoji="1" lang="en-US" altLang="ja-JP" sz="1400" dirty="0">
                        <a:latin typeface="+mj-ea"/>
                        <a:ea typeface="+mj-ea"/>
                      </a:endParaRPr>
                    </a:p>
                    <a:p>
                      <a:pPr marL="0" indent="0" algn="r">
                        <a:buFontTx/>
                        <a:buNone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など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着ている服の色：</a:t>
                      </a:r>
                      <a:r>
                        <a:rPr kumimoji="1" lang="ja-JP" altLang="en-US" b="1" dirty="0">
                          <a:solidFill>
                            <a:srgbClr val="FF0000"/>
                          </a:solidFill>
                        </a:rPr>
                        <a:t>赤</a:t>
                      </a:r>
                      <a:endParaRPr kumimoji="1" lang="en-US" altLang="ja-JP" b="1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kumimoji="1" lang="ja-JP" altLang="en-US" dirty="0"/>
                        <a:t>履いている靴の色：ベージュ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髪：ショートヘア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カバンの種類：ショルダーバッグ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B1667707-AE54-C4A4-BB63-50ADC90C0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096390"/>
              </p:ext>
            </p:extLst>
          </p:nvPr>
        </p:nvGraphicFramePr>
        <p:xfrm>
          <a:off x="801615" y="728334"/>
          <a:ext cx="3009783" cy="3877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9783">
                  <a:extLst>
                    <a:ext uri="{9D8B030D-6E8A-4147-A177-3AD203B41FA5}">
                      <a16:colId xmlns:a16="http://schemas.microsoft.com/office/drawing/2014/main" val="1828524323"/>
                    </a:ext>
                  </a:extLst>
                </a:gridCol>
              </a:tblGrid>
              <a:tr h="111872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メソッド</a:t>
                      </a:r>
                      <a:endParaRPr kumimoji="1" lang="en-US" altLang="ja-JP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+mj-ea"/>
                          <a:ea typeface="+mj-ea"/>
                        </a:rPr>
                        <a:t>オブジェクトの動作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1971193"/>
                  </a:ext>
                </a:extLst>
              </a:tr>
              <a:tr h="27584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>
                          <a:solidFill>
                            <a:srgbClr val="FF0000"/>
                          </a:solidFill>
                        </a:rPr>
                        <a:t>機械の修理をする</a:t>
                      </a:r>
                      <a:endParaRPr kumimoji="1" lang="en-US" altLang="ja-JP" b="1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カバンから中身を出す</a:t>
                      </a:r>
                      <a:endParaRPr kumimoji="1" lang="en-US" altLang="ja-JP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カバンにものを入れる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0508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3699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EC459-9D09-E7E5-DAC2-FEF88E69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530B350-C833-2754-570A-47C344FC69A4}"/>
              </a:ext>
            </a:extLst>
          </p:cNvPr>
          <p:cNvSpPr txBox="1"/>
          <p:nvPr/>
        </p:nvSpPr>
        <p:spPr>
          <a:xfrm>
            <a:off x="1671771" y="1111762"/>
            <a:ext cx="9152164" cy="786497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ja-JP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ja-JP" b="0" dirty="0" err="1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ondblclick</a:t>
            </a:r>
            <a:r>
              <a:rPr lang="en-US" altLang="ja-JP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ja-JP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window</a:t>
            </a:r>
            <a:r>
              <a:rPr lang="en-US" altLang="ja-JP" b="0" dirty="0" err="1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ja-JP" b="0" dirty="0" err="1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ja-JP" b="0" dirty="0">
                <a:solidFill>
                  <a:srgbClr val="2AA198"/>
                </a:solidFill>
                <a:effectLst/>
                <a:latin typeface="Consolas" panose="020B0609020204030204" pitchFamily="49" charset="0"/>
              </a:rPr>
              <a:t>('Perfect!’)”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lnSpc>
                <a:spcPts val="1800"/>
              </a:lnSpc>
            </a:pPr>
            <a:r>
              <a:rPr lang="ja-JP" altLang="en-US" b="0" dirty="0">
                <a:solidFill>
                  <a:srgbClr val="657B83"/>
                </a:solidFill>
                <a:effectLst/>
                <a:latin typeface="Consolas" panose="020B0609020204030204" pitchFamily="49" charset="0"/>
              </a:rPr>
              <a:t>    ボタン</a:t>
            </a:r>
            <a:endParaRPr lang="en-US" altLang="ja-JP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</a:pP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ja-JP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altLang="ja-JP" b="0" dirty="0">
                <a:solidFill>
                  <a:srgbClr val="93A1A1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ja-JP" b="0" dirty="0">
              <a:solidFill>
                <a:srgbClr val="657B8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74B0FA-CBA3-00D2-DE43-A3EDF14631D0}"/>
              </a:ext>
            </a:extLst>
          </p:cNvPr>
          <p:cNvSpPr txBox="1"/>
          <p:nvPr/>
        </p:nvSpPr>
        <p:spPr>
          <a:xfrm>
            <a:off x="2385064" y="2424667"/>
            <a:ext cx="65293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0" dirty="0">
                <a:effectLst/>
                <a:latin typeface="Consolas" panose="020B0609020204030204" pitchFamily="49" charset="0"/>
              </a:rPr>
              <a:t>ボタンをダブルクリックすると</a:t>
            </a:r>
            <a:endParaRPr lang="en-US" altLang="ja-JP" b="0" dirty="0">
              <a:effectLst/>
              <a:latin typeface="Consolas" panose="020B0609020204030204" pitchFamily="49" charset="0"/>
            </a:endParaRPr>
          </a:p>
          <a:p>
            <a:r>
              <a:rPr lang="ja-JP" altLang="en-US" dirty="0">
                <a:latin typeface="Consolas" panose="020B0609020204030204" pitchFamily="49" charset="0"/>
              </a:rPr>
              <a:t>「</a:t>
            </a:r>
            <a:r>
              <a:rPr lang="en-US" altLang="ja-JP" b="0" dirty="0">
                <a:effectLst/>
                <a:latin typeface="Consolas" panose="020B0609020204030204" pitchFamily="49" charset="0"/>
              </a:rPr>
              <a:t>Window</a:t>
            </a:r>
            <a:r>
              <a:rPr lang="ja-JP" altLang="en-US" b="0" dirty="0">
                <a:effectLst/>
                <a:latin typeface="Consolas" panose="020B0609020204030204" pitchFamily="49" charset="0"/>
              </a:rPr>
              <a:t>」オブジェクトの</a:t>
            </a:r>
            <a:endParaRPr lang="en-US" altLang="ja-JP" b="0" dirty="0">
              <a:effectLst/>
              <a:latin typeface="Consolas" panose="020B0609020204030204" pitchFamily="49" charset="0"/>
            </a:endParaRPr>
          </a:p>
          <a:p>
            <a:r>
              <a:rPr lang="ja-JP" altLang="en-US" b="0" dirty="0">
                <a:effectLst/>
                <a:latin typeface="Consolas" panose="020B0609020204030204" pitchFamily="49" charset="0"/>
              </a:rPr>
              <a:t>「</a:t>
            </a:r>
            <a:r>
              <a:rPr lang="en-US" altLang="ja-JP" b="0" dirty="0">
                <a:effectLst/>
                <a:latin typeface="Consolas" panose="020B0609020204030204" pitchFamily="49" charset="0"/>
              </a:rPr>
              <a:t>alert()</a:t>
            </a:r>
            <a:r>
              <a:rPr lang="ja-JP" altLang="en-US" b="0" dirty="0">
                <a:effectLst/>
                <a:latin typeface="Consolas" panose="020B0609020204030204" pitchFamily="49" charset="0"/>
              </a:rPr>
              <a:t>」メソッドが呼</a:t>
            </a:r>
            <a:r>
              <a:rPr lang="en-US" altLang="ja-JP" b="0" dirty="0">
                <a:effectLst/>
                <a:latin typeface="Consolas" panose="020B0609020204030204" pitchFamily="49" charset="0"/>
              </a:rPr>
              <a:t>(</a:t>
            </a:r>
            <a:r>
              <a:rPr lang="ja-JP" altLang="en-US" b="0" dirty="0">
                <a:effectLst/>
                <a:latin typeface="Consolas" panose="020B0609020204030204" pitchFamily="49" charset="0"/>
              </a:rPr>
              <a:t>よ</a:t>
            </a:r>
            <a:r>
              <a:rPr lang="en-US" altLang="ja-JP" b="0" dirty="0">
                <a:effectLst/>
                <a:latin typeface="Consolas" panose="020B0609020204030204" pitchFamily="49" charset="0"/>
              </a:rPr>
              <a:t>)</a:t>
            </a:r>
            <a:r>
              <a:rPr lang="ja-JP" altLang="en-US" b="0" dirty="0">
                <a:effectLst/>
                <a:latin typeface="Consolas" panose="020B0609020204030204" pitchFamily="49" charset="0"/>
              </a:rPr>
              <a:t>び出</a:t>
            </a:r>
            <a:r>
              <a:rPr lang="en-US" altLang="ja-JP" b="0" dirty="0">
                <a:effectLst/>
                <a:latin typeface="Consolas" panose="020B0609020204030204" pitchFamily="49" charset="0"/>
              </a:rPr>
              <a:t>(</a:t>
            </a:r>
            <a:r>
              <a:rPr lang="ja-JP" altLang="en-US" b="0" dirty="0">
                <a:effectLst/>
                <a:latin typeface="Consolas" panose="020B0609020204030204" pitchFamily="49" charset="0"/>
              </a:rPr>
              <a:t>だ</a:t>
            </a:r>
            <a:r>
              <a:rPr lang="en-US" altLang="ja-JP" b="0" dirty="0">
                <a:effectLst/>
                <a:latin typeface="Consolas" panose="020B0609020204030204" pitchFamily="49" charset="0"/>
              </a:rPr>
              <a:t>)</a:t>
            </a:r>
            <a:r>
              <a:rPr lang="ja-JP" altLang="en-US" b="0" dirty="0">
                <a:effectLst/>
                <a:latin typeface="Consolas" panose="020B0609020204030204" pitchFamily="49" charset="0"/>
              </a:rPr>
              <a:t>されて</a:t>
            </a:r>
            <a:endParaRPr lang="en-US" altLang="ja-JP" b="0" dirty="0">
              <a:effectLst/>
              <a:latin typeface="Consolas" panose="020B0609020204030204" pitchFamily="49" charset="0"/>
            </a:endParaRPr>
          </a:p>
          <a:p>
            <a:r>
              <a:rPr lang="ja-JP" altLang="en-US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「</a:t>
            </a:r>
            <a:r>
              <a:rPr lang="en-US" altLang="ja-JP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Perfect!</a:t>
            </a:r>
            <a:r>
              <a:rPr lang="ja-JP" altLang="en-US" b="0" dirty="0">
                <a:solidFill>
                  <a:srgbClr val="268BD2"/>
                </a:solidFill>
                <a:effectLst/>
                <a:latin typeface="Consolas" panose="020B0609020204030204" pitchFamily="49" charset="0"/>
              </a:rPr>
              <a:t>」</a:t>
            </a:r>
            <a:r>
              <a:rPr lang="ja-JP" altLang="en-US" dirty="0">
                <a:latin typeface="Consolas" panose="020B0609020204030204" pitchFamily="49" charset="0"/>
              </a:rPr>
              <a:t>というポップアップが表示</a:t>
            </a:r>
            <a:r>
              <a:rPr lang="en-US" altLang="ja-JP" dirty="0">
                <a:latin typeface="Consolas" panose="020B0609020204030204" pitchFamily="49" charset="0"/>
              </a:rPr>
              <a:t>(</a:t>
            </a:r>
            <a:r>
              <a:rPr lang="ja-JP" altLang="en-US" dirty="0">
                <a:latin typeface="Consolas" panose="020B0609020204030204" pitchFamily="49" charset="0"/>
              </a:rPr>
              <a:t>ひょうじ</a:t>
            </a:r>
            <a:r>
              <a:rPr lang="en-US" altLang="ja-JP" dirty="0">
                <a:latin typeface="Consolas" panose="020B0609020204030204" pitchFamily="49" charset="0"/>
              </a:rPr>
              <a:t>)</a:t>
            </a:r>
            <a:r>
              <a:rPr lang="ja-JP" altLang="en-US" dirty="0">
                <a:latin typeface="Consolas" panose="020B0609020204030204" pitchFamily="49" charset="0"/>
              </a:rPr>
              <a:t>されます</a:t>
            </a:r>
            <a:endParaRPr lang="en-US" altLang="ja-JP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B7973FBD-F6D2-7718-53FF-F672C0BEAB9D}"/>
              </a:ext>
            </a:extLst>
          </p:cNvPr>
          <p:cNvSpPr/>
          <p:nvPr/>
        </p:nvSpPr>
        <p:spPr>
          <a:xfrm>
            <a:off x="5564940" y="4595056"/>
            <a:ext cx="531060" cy="317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A8A078A-426B-48DC-86C5-C9E5DF60F3AD}"/>
              </a:ext>
            </a:extLst>
          </p:cNvPr>
          <p:cNvSpPr txBox="1"/>
          <p:nvPr/>
        </p:nvSpPr>
        <p:spPr>
          <a:xfrm>
            <a:off x="771524" y="3861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JavaScript</a:t>
            </a:r>
            <a:r>
              <a:rPr kumimoji="1" lang="ja-JP" altLang="en-US" b="1" dirty="0"/>
              <a:t>の例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7B249F-1DC8-1429-4E6C-E01E41B1D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377" y="4151405"/>
            <a:ext cx="4260273" cy="1127271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26713BD-49DB-F8B7-DF33-BE3624AA3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7853" y="4086829"/>
            <a:ext cx="4210638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03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528</Words>
  <Application>Microsoft Office PowerPoint</Application>
  <PresentationFormat>ワイド画面</PresentationFormat>
  <Paragraphs>82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游ゴシック</vt:lpstr>
      <vt:lpstr>游ゴシック Light</vt:lpstr>
      <vt:lpstr>Arial</vt:lpstr>
      <vt:lpstr>Consolas</vt:lpstr>
      <vt:lpstr>Office テーマ</vt:lpstr>
      <vt:lpstr>メソッドとプロパティ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2</cp:revision>
  <dcterms:created xsi:type="dcterms:W3CDTF">2026-05-19T03:18:53Z</dcterms:created>
  <dcterms:modified xsi:type="dcterms:W3CDTF">2026-05-19T15:24:44Z</dcterms:modified>
</cp:coreProperties>
</file>